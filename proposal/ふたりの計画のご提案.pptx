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指差すのは2027年後半の一か所だけ。「ここで分かれる、それだけ」。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今の家が安いのは資産。「ひとりで動く」は本当に必要なときだけ。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黄色の行が、彼への唯一の宿題。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997135" y="4480560"/>
            <a:ext cx="3840480" cy="384048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088575" y="822960"/>
            <a:ext cx="1005840" cy="100584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841248" y="1828800"/>
            <a:ext cx="2761488" cy="420624"/>
          </a:xfrm>
          <a:prstGeom prst="roundRect">
            <a:avLst>
              <a:gd name="adj" fmla="val 30434"/>
            </a:avLst>
          </a:prstGeom>
          <a:noFill/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【彼の名前】さん 御中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377440"/>
            <a:ext cx="8686800" cy="21031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25000"/>
              </a:lnSpc>
            </a:pPr>
            <a:r>
              <a:rPr lang="ja-JP" altLang="en-US"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25000"/>
              </a:lnSpc>
            </a:pPr>
            <a:r>
              <a:rPr lang="ja-JP" altLang="en-US"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46177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 → 2029 の、たたき台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5806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8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大隅絢加 ／ 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152144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これは</a:t>
            </a:r>
            <a:r>
              <a:rPr lang="ja-JP" altLang="en-US" sz="2200" b="1">
                <a:solidFill>
                  <a:srgbClr val="2B2D42"/>
                </a:solidFill>
                <a:highlight>
                  <a:srgbClr val="FFE066"/>
                </a:highlight>
                <a:latin typeface="Yu Gothic"/>
                <a:ea typeface="Yu Gothic"/>
                <a:cs typeface="Yu Gothic"/>
              </a:rPr>
              <a:t>たたき台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。赤ペン歓迎です。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2628900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72768" y="261061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58902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2768" y="357073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。あなたの分は空欄にしてあります。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454914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72768" y="453085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1" name="Shape 1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499616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私の分は埋めました。あなたの分は、次に会うときに。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32688" y="2016252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100"/>
          </a:p>
        </p:txBody>
      </p:sp>
      <p:sp>
        <p:nvSpPr>
          <p:cNvPr id="5" name="TextBox 5"/>
          <p:cNvSpPr txBox="1"/>
          <p:nvPr/>
        </p:nvSpPr>
        <p:spPr>
          <a:xfrm>
            <a:off x="3035808" y="2016252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42048" y="2016252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75336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766060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766060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766060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510788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515868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515868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転職して、新しい会社へ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515868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4260596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4265676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4265676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今の家に、しばらく住み続ける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4265676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5010404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5015484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5015484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30歳までに入籍したい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5015484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4" name="Shape 24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978408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期限は2つ、削らないものも2つ。それ以外は、全部動かしてOK。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152144" y="274777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521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歳まで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521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2027年10月まで</a:t>
            </a:r>
          </a:p>
        </p:txBody>
      </p:sp>
      <p:sp>
        <p:nvSpPr>
          <p:cNvPr id="8" name="Shape 8"/>
          <p:cNvSpPr/>
          <p:nvPr/>
        </p:nvSpPr>
        <p:spPr>
          <a:xfrm>
            <a:off x="44988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4809744" y="274777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097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歳まで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8097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2029年10月まで。2人目は一旦保留</a:t>
            </a:r>
          </a:p>
        </p:txBody>
      </p:sp>
      <p:sp>
        <p:nvSpPr>
          <p:cNvPr id="12" name="Shape 12"/>
          <p:cNvSpPr/>
          <p:nvPr/>
        </p:nvSpPr>
        <p:spPr>
          <a:xfrm>
            <a:off x="81564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8467344" y="274777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673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2EC4B6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673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写真と、新婚旅行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48508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式と指輪は後回し。時期も規模も、まだ決めない。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Shape 18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499616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23744" y="137160"/>
            <a:ext cx="9015984" cy="329184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分かれ道は、2027年後半の1か所だけ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5" name="Shape 5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7" name="Shape 7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8" name="Shape 8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9" name="Shape 9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0" name="Shape 10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2" name="Shape 12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3" name="Shape 13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4" name="Shape 14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5" name="Shape 15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7" name="Shape 17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8" name="Shape 18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9" name="Shape 19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20" name="Shape 20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1" name="Shape 21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5" name="Shape 35"/>
          <p:cNvSpPr/>
          <p:nvPr/>
        </p:nvSpPr>
        <p:spPr>
          <a:xfrm>
            <a:off x="274320" y="2350008"/>
            <a:ext cx="640080" cy="376936"/>
          </a:xfrm>
          <a:prstGeom prst="roundRect">
            <a:avLst>
              <a:gd name="adj" fmla="val 33962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6" name="Shape 36"/>
          <p:cNvSpPr/>
          <p:nvPr/>
        </p:nvSpPr>
        <p:spPr>
          <a:xfrm>
            <a:off x="987552" y="2404872"/>
            <a:ext cx="788001" cy="267208"/>
          </a:xfrm>
          <a:prstGeom prst="roundRect">
            <a:avLst>
              <a:gd name="adj" fmla="val 4790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7" name="Shape 37"/>
          <p:cNvSpPr/>
          <p:nvPr/>
        </p:nvSpPr>
        <p:spPr>
          <a:xfrm>
            <a:off x="1830417" y="2404872"/>
            <a:ext cx="1630866" cy="267208"/>
          </a:xfrm>
          <a:prstGeom prst="roundRect">
            <a:avLst>
              <a:gd name="adj" fmla="val 4790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8" name="Shape 38"/>
          <p:cNvSpPr/>
          <p:nvPr/>
        </p:nvSpPr>
        <p:spPr>
          <a:xfrm>
            <a:off x="274320" y="2726944"/>
            <a:ext cx="640080" cy="1130808"/>
          </a:xfrm>
          <a:prstGeom prst="roundRect">
            <a:avLst>
              <a:gd name="adj" fmla="val 20000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9" name="Shape 39"/>
          <p:cNvSpPr/>
          <p:nvPr/>
        </p:nvSpPr>
        <p:spPr>
          <a:xfrm>
            <a:off x="987552" y="2781808"/>
            <a:ext cx="2473731" cy="267208"/>
          </a:xfrm>
          <a:prstGeom prst="roundRect">
            <a:avLst>
              <a:gd name="adj" fmla="val 4790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158744"/>
            <a:ext cx="2473731" cy="267208"/>
          </a:xfrm>
          <a:prstGeom prst="roundRect">
            <a:avLst>
              <a:gd name="adj" fmla="val 4790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私：今の家に住み続ける</a:t>
            </a:r>
          </a:p>
        </p:txBody>
      </p:sp>
      <p:sp>
        <p:nvSpPr>
          <p:cNvPr id="41" name="Shape 41"/>
          <p:cNvSpPr/>
          <p:nvPr/>
        </p:nvSpPr>
        <p:spPr>
          <a:xfrm>
            <a:off x="3516147" y="3158744"/>
            <a:ext cx="1630866" cy="267208"/>
          </a:xfrm>
          <a:prstGeom prst="roundRect">
            <a:avLst>
              <a:gd name="adj" fmla="val 4790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4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二人の家へ</a:t>
            </a:r>
          </a:p>
        </p:txBody>
      </p:sp>
      <p:sp>
        <p:nvSpPr>
          <p:cNvPr id="42" name="Shape 42"/>
          <p:cNvSpPr/>
          <p:nvPr/>
        </p:nvSpPr>
        <p:spPr>
          <a:xfrm>
            <a:off x="1830417" y="3535680"/>
            <a:ext cx="1630866" cy="267208"/>
          </a:xfrm>
          <a:prstGeom prst="roundRect">
            <a:avLst>
              <a:gd name="adj" fmla="val 4790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補助の確認・予算とエリア</a:t>
            </a:r>
          </a:p>
        </p:txBody>
      </p:sp>
      <p:sp>
        <p:nvSpPr>
          <p:cNvPr id="43" name="Shape 43"/>
          <p:cNvSpPr/>
          <p:nvPr/>
        </p:nvSpPr>
        <p:spPr>
          <a:xfrm>
            <a:off x="3516147" y="3535680"/>
            <a:ext cx="788001" cy="267208"/>
          </a:xfrm>
          <a:prstGeom prst="roundRect">
            <a:avLst>
              <a:gd name="adj" fmla="val 4790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場所と条件</a:t>
            </a:r>
          </a:p>
        </p:txBody>
      </p:sp>
      <p:sp>
        <p:nvSpPr>
          <p:cNvPr id="44" name="Shape 44"/>
          <p:cNvSpPr/>
          <p:nvPr/>
        </p:nvSpPr>
        <p:spPr>
          <a:xfrm>
            <a:off x="274320" y="3857752"/>
            <a:ext cx="640080" cy="753872"/>
          </a:xfrm>
          <a:prstGeom prst="roundRect">
            <a:avLst>
              <a:gd name="adj" fmla="val 20000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2EC4B6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5" name="Shape 45"/>
          <p:cNvSpPr/>
          <p:nvPr/>
        </p:nvSpPr>
        <p:spPr>
          <a:xfrm>
            <a:off x="4359012" y="3912616"/>
            <a:ext cx="788001" cy="267208"/>
          </a:xfrm>
          <a:prstGeom prst="roundRect">
            <a:avLst>
              <a:gd name="adj" fmla="val 47908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46" name="Shape 46"/>
          <p:cNvSpPr/>
          <p:nvPr/>
        </p:nvSpPr>
        <p:spPr>
          <a:xfrm>
            <a:off x="5201877" y="4289552"/>
            <a:ext cx="1630866" cy="267208"/>
          </a:xfrm>
          <a:prstGeom prst="roundRect">
            <a:avLst>
              <a:gd name="adj" fmla="val 47908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7" name="Shape 47"/>
          <p:cNvSpPr/>
          <p:nvPr/>
        </p:nvSpPr>
        <p:spPr>
          <a:xfrm>
            <a:off x="274320" y="4611624"/>
            <a:ext cx="640080" cy="376936"/>
          </a:xfrm>
          <a:prstGeom prst="roundRect">
            <a:avLst>
              <a:gd name="adj" fmla="val 33962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4D96FF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8" name="Shape 48"/>
          <p:cNvSpPr/>
          <p:nvPr/>
        </p:nvSpPr>
        <p:spPr>
          <a:xfrm>
            <a:off x="6044742" y="4666488"/>
            <a:ext cx="3316596" cy="267208"/>
          </a:xfrm>
          <a:prstGeom prst="roundRect">
            <a:avLst>
              <a:gd name="adj" fmla="val 47908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9" name="Shape 49"/>
          <p:cNvSpPr/>
          <p:nvPr/>
        </p:nvSpPr>
        <p:spPr>
          <a:xfrm>
            <a:off x="9416202" y="4666488"/>
            <a:ext cx="2473731" cy="267208"/>
          </a:xfrm>
          <a:prstGeom prst="roundRect">
            <a:avLst>
              <a:gd name="adj" fmla="val 47908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50" name="Shape 50"/>
          <p:cNvSpPr/>
          <p:nvPr/>
        </p:nvSpPr>
        <p:spPr>
          <a:xfrm>
            <a:off x="274320" y="4988560"/>
            <a:ext cx="640080" cy="376936"/>
          </a:xfrm>
          <a:prstGeom prst="roundRect">
            <a:avLst>
              <a:gd name="adj" fmla="val 33962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1" name="Shape 51"/>
          <p:cNvSpPr/>
          <p:nvPr/>
        </p:nvSpPr>
        <p:spPr>
          <a:xfrm>
            <a:off x="6044742" y="5043424"/>
            <a:ext cx="788001" cy="267208"/>
          </a:xfrm>
          <a:prstGeom prst="roundRect">
            <a:avLst>
              <a:gd name="adj" fmla="val 47908"/>
            </a:avLst>
          </a:prstGeom>
          <a:solidFill>
            <a:srgbClr val="9B5DE5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7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2" name="Shape 52"/>
          <p:cNvSpPr/>
          <p:nvPr/>
        </p:nvSpPr>
        <p:spPr>
          <a:xfrm>
            <a:off x="274320" y="5365496"/>
            <a:ext cx="640080" cy="376936"/>
          </a:xfrm>
          <a:prstGeom prst="roundRect">
            <a:avLst>
              <a:gd name="adj" fmla="val 33962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3" name="Shape 53"/>
          <p:cNvSpPr/>
          <p:nvPr/>
        </p:nvSpPr>
        <p:spPr>
          <a:xfrm>
            <a:off x="7730472" y="5420360"/>
            <a:ext cx="4159461" cy="267208"/>
          </a:xfrm>
          <a:prstGeom prst="roundRect">
            <a:avLst>
              <a:gd name="adj" fmla="val 47908"/>
            </a:avLst>
          </a:prstGeom>
          <a:solidFill>
            <a:srgbClr val="B8B2A8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99581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5573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補助の条件を確認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*時期はぜんぶ目安。半年ごとに引き直します。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4" name="Shape 64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978408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分かれ道は「家賃補助が使えるか」。どっちでも、最初の家は</a:t>
            </a:r>
            <a:r>
              <a:rPr lang="ja-JP" altLang="en-US" sz="2200" b="1">
                <a:solidFill>
                  <a:srgbClr val="2B2D42"/>
                </a:solidFill>
                <a:highlight>
                  <a:srgbClr val="FFE066"/>
                </a:highlight>
                <a:latin typeface="Yu Gothic"/>
                <a:ea typeface="Yu Gothic"/>
                <a:cs typeface="Yu Gothic"/>
              </a:rPr>
              <a:t>子ども前提の広さ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で。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3334512" cy="3931920"/>
          </a:xfrm>
          <a:prstGeom prst="roundRect">
            <a:avLst>
              <a:gd name="adj" fmla="val 3839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554480" cy="292608"/>
          </a:xfrm>
          <a:prstGeom prst="roundRect">
            <a:avLst>
              <a:gd name="adj" fmla="val 43750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補助が使える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793492"/>
            <a:ext cx="2749296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2027年後半、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845052"/>
            <a:ext cx="2749296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補助の条件（入籍が条件か、上限、回数）に合わせて場所を決める。入籍は住む前か、住むタイミング。</a:t>
            </a:r>
          </a:p>
        </p:txBody>
      </p:sp>
      <p:sp>
        <p:nvSpPr>
          <p:cNvPr id="8" name="Shape 8"/>
          <p:cNvSpPr/>
          <p:nvPr/>
        </p:nvSpPr>
        <p:spPr>
          <a:xfrm>
            <a:off x="4431792" y="1924812"/>
            <a:ext cx="3334512" cy="3931920"/>
          </a:xfrm>
          <a:prstGeom prst="roundRect">
            <a:avLst>
              <a:gd name="adj" fmla="val 3839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4724400" y="2290572"/>
            <a:ext cx="1737360" cy="292608"/>
          </a:xfrm>
          <a:prstGeom prst="roundRect">
            <a:avLst>
              <a:gd name="adj" fmla="val 43750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補助が使えない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24400" y="2793492"/>
            <a:ext cx="2749296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私が一度、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ひとりで動く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24400" y="3845052"/>
            <a:ext cx="2749296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二人で住むのに向かない条件なら、私が先にひとりで引っ越す。二人の家は補助なしで探す。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8022336" y="1924812"/>
            <a:ext cx="3334512" cy="3931920"/>
          </a:xfrm>
          <a:prstGeom prst="roundRect">
            <a:avLst>
              <a:gd name="adj" fmla="val 3839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8314944" y="2290572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どっちでも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314944" y="2793492"/>
            <a:ext cx="2749296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1回にする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14944" y="3845052"/>
            <a:ext cx="2749296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引っ越しは1回ごとに家賃4〜5か月分が飛ぶ。3回なら式が挙がる額。補助は一番長く住む家に使う。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7" name="Shape 17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978408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二人の財布はひとつにして、見える化。削らないものだけ、先に決める。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188720" cy="292608"/>
          </a:xfrm>
          <a:prstGeom prst="roundRect">
            <a:avLst>
              <a:gd name="adj" fmla="val 43750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🏠 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二人の家は、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月20万まで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折半。私の分は上限10万、目標9万。給与の形が分かったら確定。</a:t>
            </a:r>
          </a:p>
        </p:txBody>
      </p:sp>
      <p:sp>
        <p:nvSpPr>
          <p:cNvPr id="8" name="Shape 8"/>
          <p:cNvSpPr/>
          <p:nvPr/>
        </p:nvSpPr>
        <p:spPr>
          <a:xfrm>
            <a:off x="3534156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826764" y="2290572"/>
            <a:ext cx="1554480" cy="292608"/>
          </a:xfrm>
          <a:prstGeom prst="roundRect">
            <a:avLst>
              <a:gd name="adj" fmla="val 43750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🏦 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6764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生活費と貯金は、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ここから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26764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二人の家と同時に開設。年に1回だけ棚卸し。お小遣いには干渉しない。</a:t>
            </a:r>
          </a:p>
        </p:txBody>
      </p:sp>
      <p:sp>
        <p:nvSpPr>
          <p:cNvPr id="12" name="Shape 12"/>
          <p:cNvSpPr/>
          <p:nvPr/>
        </p:nvSpPr>
        <p:spPr>
          <a:xfrm>
            <a:off x="6227064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6519672" y="2290572"/>
            <a:ext cx="1920240" cy="292608"/>
          </a:xfrm>
          <a:prstGeom prst="roundRect">
            <a:avLst>
              <a:gd name="adj" fmla="val 43750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📸 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19672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19672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収入が増える分から、月に決めた額を積む。出産の費用もここから。</a:t>
            </a:r>
          </a:p>
        </p:txBody>
      </p:sp>
      <p:sp>
        <p:nvSpPr>
          <p:cNvPr id="16" name="Shape 16"/>
          <p:cNvSpPr/>
          <p:nvPr/>
        </p:nvSpPr>
        <p:spPr>
          <a:xfrm>
            <a:off x="8919972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Shape 17"/>
          <p:cNvSpPr/>
          <p:nvPr/>
        </p:nvSpPr>
        <p:spPr>
          <a:xfrm>
            <a:off x="9212580" y="2290572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💍 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12580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12580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時期も規模も、まだ決めない。決めたくなったら、そのとき決める。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1" name="Shape 2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673352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私の側の事情だけ、先に正直に。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2628900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72768" y="261061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予定。増えた分が、この計画の原資。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58902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2768" y="357073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（225万円分）。これは崩さない。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454914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72768" y="453085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は仕事。費用は私側（会社負担を含む）で、家計からは出さない。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1" name="Shape 1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325880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決まっていないことは、期限つきで置いておきます。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32688" y="1728216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3488" y="1728216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19488" y="1728216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10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33389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46089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会社の家賃補助の条件（入籍が条件か・家賃の上限・使える回数）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346089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346089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958882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963962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転職先の給与の形（賞与の有無）を確認して、家賃の負担額を確定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963962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963962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576755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581835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入籍を、住む前にするか、住むタイミングにするか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581835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2027年前半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581835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194628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199708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最初の二人の家を、子ども前提の広さにするか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4199708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2027年前半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4199708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812501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841248" y="4817581"/>
            <a:ext cx="10515600" cy="617873"/>
          </a:xfrm>
          <a:prstGeom prst="roundRect">
            <a:avLst>
              <a:gd name="adj" fmla="val 20718"/>
            </a:avLst>
          </a:prstGeom>
          <a:solidFill>
            <a:srgbClr val="FFE06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TextBox 25"/>
          <p:cNvSpPr txBox="1"/>
          <p:nvPr/>
        </p:nvSpPr>
        <p:spPr>
          <a:xfrm>
            <a:off x="932688" y="4817581"/>
            <a:ext cx="618134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333488" y="4817581"/>
            <a:ext cx="206654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619488" y="4817581"/>
            <a:ext cx="160934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28" name="Shape 28"/>
          <p:cNvSpPr/>
          <p:nvPr/>
        </p:nvSpPr>
        <p:spPr>
          <a:xfrm>
            <a:off x="841248" y="5430374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841248" y="5435454"/>
            <a:ext cx="6272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42048" y="5435454"/>
            <a:ext cx="21579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528048" y="5435454"/>
            <a:ext cx="1700784" cy="617873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3" name="Shape 33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804672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12648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私の側から先に。変えないことと、直すことを分けて。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188720" cy="292608"/>
          </a:xfrm>
          <a:prstGeom prst="roundRect">
            <a:avLst>
              <a:gd name="adj" fmla="val 43750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💼 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落とさない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30歳まではお互い仕事優先。結婚が仕事の邪魔をしない設計にする。</a:t>
            </a:r>
          </a:p>
        </p:txBody>
      </p:sp>
      <p:sp>
        <p:nvSpPr>
          <p:cNvPr id="8" name="Shape 8"/>
          <p:cNvSpPr/>
          <p:nvPr/>
        </p:nvSpPr>
        <p:spPr>
          <a:xfrm>
            <a:off x="3534156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826764" y="2290572"/>
            <a:ext cx="1188720" cy="292608"/>
          </a:xfrm>
          <a:prstGeom prst="roundRect">
            <a:avLst>
              <a:gd name="adj" fmla="val 43750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🕊 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6764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制度で守る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26764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二人の家に自室を持つ。週に一度は別行動でいい。</a:t>
            </a:r>
          </a:p>
        </p:txBody>
      </p:sp>
      <p:sp>
        <p:nvSpPr>
          <p:cNvPr id="12" name="Shape 12"/>
          <p:cNvSpPr/>
          <p:nvPr/>
        </p:nvSpPr>
        <p:spPr>
          <a:xfrm>
            <a:off x="6227064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6519672" y="2290572"/>
            <a:ext cx="1188720" cy="292608"/>
          </a:xfrm>
          <a:prstGeom prst="roundRect">
            <a:avLst>
              <a:gd name="adj" fmla="val 43750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🧹 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19672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改善中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19672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得意なほうがやる。決まらないものは外注も選択肢に入れる。</a:t>
            </a:r>
          </a:p>
        </p:txBody>
      </p:sp>
      <p:sp>
        <p:nvSpPr>
          <p:cNvPr id="16" name="Shape 16"/>
          <p:cNvSpPr/>
          <p:nvPr/>
        </p:nvSpPr>
        <p:spPr>
          <a:xfrm>
            <a:off x="8919972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Shape 17"/>
          <p:cNvSpPr/>
          <p:nvPr/>
        </p:nvSpPr>
        <p:spPr>
          <a:xfrm>
            <a:off x="9212580" y="2290572"/>
            <a:ext cx="1371600" cy="292608"/>
          </a:xfrm>
          <a:prstGeom prst="roundRect">
            <a:avLst>
              <a:gd name="adj" fmla="val 43750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🤝 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12580" y="2793492"/>
            <a:ext cx="185166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40000"/>
              </a:lnSpc>
            </a:pPr>
            <a:r>
              <a:rPr lang="ja-JP" altLang="en-US" sz="19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終わる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12580" y="3845052"/>
            <a:ext cx="1851660" cy="1691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80000"/>
              </a:lnSpc>
            </a:pPr>
            <a:r>
              <a:rPr lang="ja-JP" altLang="en-US" sz="12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今のやり方を変えない。翌日に持ち越さない。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1" name="Shape 2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-1463040" y="4663440"/>
            <a:ext cx="3291840" cy="329184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54335" y="548640"/>
            <a:ext cx="1280160" cy="128016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841248" y="2468880"/>
            <a:ext cx="10515600" cy="1645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ctr">
              <a:lnSpc>
                <a:spcPct val="140000"/>
              </a:lnSpc>
            </a:pPr>
            <a:r>
              <a:rPr lang="ja-JP" altLang="en-US" sz="4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この紙を、たたき台にしてください。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420624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60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次に開くのは2027年3月。それまでに、赤ペンで返してね。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
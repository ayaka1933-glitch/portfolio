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ここから5枚、テンポよくめくる。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真顔で言う。「私調べ」まで言い切ると笑いになる。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ここで笑わせて、次の「お互いについて」に渡す。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ここが一番の持ちネタ。言ったあと、黙って次をめくる。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ここから3枚。テンポは私の魅力と同じで。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ここだけ主観、と言い添える。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ここで空気を切り替えて、ゴールのページへ渡す。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条件は3つだけ。増やすと物件が無くなる。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「足りない方が悪い」にしないのが、この図の目的。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C9184A"/>
                </a:solidFill>
                <a:latin typeface="Yu Gothic"/>
                <a:ea typeface="Yu Gothic"/>
                <a:cs typeface="Yu Gothic"/>
              </a:rPr>
              <a:t>凪さん 御中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1371600"/>
            <a:ext cx="786384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8000"/>
              </a:lnSpc>
            </a:pPr>
            <a:r>
              <a:rPr lang="ja-JP" altLang="en-US" sz="8000" b="1">
                <a:solidFill>
                  <a:srgbClr val="C9184A"/>
                </a:solidFill>
                <a:latin typeface="Hiragino Maru Gothic ProN"/>
                <a:ea typeface="Hiragino Maru Gothic ProN"/>
                <a:cs typeface="Hiragino Maru Gothic ProN"/>
              </a:rPr>
              <a:t>ふたりの計画の</a:t>
            </a:r>
          </a:p>
          <a:p>
            <a:pPr algn="l">
              <a:lnSpc>
                <a:spcPct val="108000"/>
              </a:lnSpc>
            </a:pPr>
            <a:r>
              <a:rPr lang="ja-JP" altLang="en-US" sz="8000" b="1">
                <a:solidFill>
                  <a:srgbClr val="C9184A"/>
                </a:solidFill>
                <a:latin typeface="Hiragino Maru Gothic ProN"/>
                <a:ea typeface="Hiragino Maru Gothic ProN"/>
                <a:cs typeface="Hiragino Maru Gothic ProN"/>
              </a:rPr>
              <a:t>ご提案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2120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Hiragino Maru Gothic ProN"/>
                <a:ea typeface="Hiragino Maru Gothic ProN"/>
                <a:cs typeface="Hiragino Maru Gothic ProN"/>
              </a:rPr>
              <a:t>2026 → 2029 のたたき台です。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FFE57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FFE57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FFE57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FFE57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Hiragino Maru Gothic ProN"/>
                <a:ea typeface="Hiragino Maru Gothic ProN"/>
                <a:cs typeface="Hiragino Maru Gothic ProN"/>
              </a:rPr>
              <a:t>私の魅力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自分で言うのもなんですが、6つあります。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顔面偏差値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まあまあ高いと思っています。（私調べ）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自立している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仕事に人生をかけているので、将来の安定性もあります。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気がラク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性格もそこそこ悪くないです。「家で二人でご飯」を強要しません。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人脈がある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凪さんの仕事のビジネスマッチングも、できると思います。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伸びしろがある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柔軟性があります。片付けも掃除も、少しずつ対応中です。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飽きない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こんな資料を作ってくる女、ほかにいましたか？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C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FF93A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FF93A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FF93A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FF93A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FFFFFF"/>
                </a:solidFill>
                <a:latin typeface="Hiragino Maru Gothic ProN"/>
                <a:ea typeface="Hiragino Maru Gothic ProN"/>
                <a:cs typeface="Hiragino Maru Gothic ProN"/>
              </a:rPr>
              <a:t>お互いについて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ふたりで見たときの話も、3つあります。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相性がいい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昼も夜も、悪くないはずです。たぶん、きっと。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直そうとする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自分のよくないところを、言われる前に直そうとする人同士です。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まわりも公認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お互いの友人にも会っていて、印象も悪くないはずです。たぶん。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56D8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56D8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56D8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56D8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6400" b="1">
                <a:solidFill>
                  <a:srgbClr val="FFFFFF"/>
                </a:solidFill>
                <a:latin typeface="Hiragino Maru Gothic ProN"/>
                <a:ea typeface="Hiragino Maru Gothic ProN"/>
                <a:cs typeface="Hiragino Maru Gothic ProN"/>
              </a:rPr>
              <a:t>だから、大丈夫です。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一緒に暮らしても、たぶん。ここから先は、その計画の話です。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で探します。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手当型なら私名義で家賃15〜16万が目安。借り上げ社宅なら会社契約で、審査はありません。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とはいえ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住み替えるかも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しれません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子どもの人数や暮らし方で、また動く可能性はあります。そのときは、そのとき決めます。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まずは、引っ越しが1回で済む家を探します。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家の条件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広さへのこだわりはありません。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場所と設備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だけ、先に決めさせてください。</a:t>
            </a:r>
          </a:p>
        </p:txBody>
      </p:sp>
      <p:sp>
        <p:nvSpPr>
          <p:cNvPr id="4" name="Shape 4"/>
          <p:cNvSpPr/>
          <p:nvPr/>
        </p:nvSpPr>
        <p:spPr>
          <a:xfrm>
            <a:off x="1389888" y="1901952"/>
            <a:ext cx="3566160" cy="3566160"/>
          </a:xfrm>
          <a:prstGeom prst="ellipse">
            <a:avLst/>
          </a:prstGeom>
          <a:solidFill>
            <a:srgbClr val="E6F7F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1389888" y="2048256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3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通勤60分</a:t>
            </a:r>
          </a:p>
        </p:txBody>
      </p:sp>
      <p:sp>
        <p:nvSpPr>
          <p:cNvPr id="6" name="Shape 6"/>
          <p:cNvSpPr/>
          <p:nvPr/>
        </p:nvSpPr>
        <p:spPr>
          <a:xfrm>
            <a:off x="2138782" y="2650846"/>
            <a:ext cx="2068372" cy="2068372"/>
          </a:xfrm>
          <a:prstGeom prst="ellipse">
            <a:avLst/>
          </a:prstGeom>
          <a:solidFill>
            <a:srgbClr val="FFF6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2138782" y="2797150"/>
            <a:ext cx="2068372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3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通勤30分</a:t>
            </a:r>
          </a:p>
        </p:txBody>
      </p:sp>
      <p:sp>
        <p:nvSpPr>
          <p:cNvPr id="8" name="Shape 8"/>
          <p:cNvSpPr/>
          <p:nvPr/>
        </p:nvSpPr>
        <p:spPr>
          <a:xfrm>
            <a:off x="2624328" y="3136392"/>
            <a:ext cx="1097280" cy="1097280"/>
          </a:xfrm>
          <a:prstGeom prst="ellipse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都内</a:t>
            </a:r>
          </a:p>
        </p:txBody>
      </p:sp>
      <p:sp>
        <p:nvSpPr>
          <p:cNvPr id="9" name="Shape 9"/>
          <p:cNvSpPr/>
          <p:nvPr/>
        </p:nvSpPr>
        <p:spPr>
          <a:xfrm>
            <a:off x="5961888" y="2551176"/>
            <a:ext cx="146304" cy="146304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6327648" y="2423160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ふたりとも通勤30〜60分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327648" y="2825496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どちらかだけが遠い、をつくらない範囲で探します。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5961888" y="3392424"/>
            <a:ext cx="146304" cy="146304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27648" y="3264408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独立洗面台がある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27648" y="3666744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ここは譲れません。朝の支度が重ならないように。</a:t>
            </a:r>
          </a:p>
        </p:txBody>
      </p:sp>
      <p:sp>
        <p:nvSpPr>
          <p:cNvPr id="15" name="Shape 15"/>
          <p:cNvSpPr/>
          <p:nvPr/>
        </p:nvSpPr>
        <p:spPr>
          <a:xfrm>
            <a:off x="5961888" y="4233672"/>
            <a:ext cx="146304" cy="146304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6327648" y="4105656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広さは、こだわりません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327648" y="4507992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間取りより、場所と設備を優先します。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1248" y="582472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※そのほかの希望は、物件を見ながら足していきます。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月15〜20万を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負担の割合は固定しません。名義は私で、共同口座から引き落とします。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いくらずつ出すかは、次のページで決めます。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生活費の決め方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負担の割合は、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半年ごと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に決め直します。お金で足りない分は、家事で補います。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半年に一度</a:t>
            </a:r>
          </a:p>
        </p:txBody>
      </p:sp>
      <p:sp>
        <p:nvSpPr>
          <p:cNvPr id="5" name="Shape 5"/>
          <p:cNvSpPr/>
          <p:nvPr/>
        </p:nvSpPr>
        <p:spPr>
          <a:xfrm>
            <a:off x="841248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月収を見る</a:t>
            </a:r>
          </a:p>
        </p:txBody>
      </p:sp>
      <p:sp>
        <p:nvSpPr>
          <p:cNvPr id="6" name="Shape 6"/>
          <p:cNvSpPr/>
          <p:nvPr/>
        </p:nvSpPr>
        <p:spPr>
          <a:xfrm>
            <a:off x="3172968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3611880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そのつど</a:t>
            </a:r>
          </a:p>
        </p:txBody>
      </p:sp>
      <p:sp>
        <p:nvSpPr>
          <p:cNvPr id="8" name="Shape 8"/>
          <p:cNvSpPr/>
          <p:nvPr/>
        </p:nvSpPr>
        <p:spPr>
          <a:xfrm>
            <a:off x="3611880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負担の割合を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</a:t>
            </a:r>
          </a:p>
        </p:txBody>
      </p:sp>
      <p:sp>
        <p:nvSpPr>
          <p:cNvPr id="9" name="Shape 9"/>
          <p:cNvSpPr/>
          <p:nvPr/>
        </p:nvSpPr>
        <p:spPr>
          <a:xfrm>
            <a:off x="5943600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6382512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足りないときは</a:t>
            </a:r>
          </a:p>
        </p:txBody>
      </p:sp>
      <p:sp>
        <p:nvSpPr>
          <p:cNvPr id="11" name="Shape 11"/>
          <p:cNvSpPr/>
          <p:nvPr/>
        </p:nvSpPr>
        <p:spPr>
          <a:xfrm>
            <a:off x="6382512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家事で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補う</a:t>
            </a:r>
          </a:p>
        </p:txBody>
      </p:sp>
      <p:sp>
        <p:nvSpPr>
          <p:cNvPr id="12" name="Shape 12"/>
          <p:cNvSpPr/>
          <p:nvPr/>
        </p:nvSpPr>
        <p:spPr>
          <a:xfrm>
            <a:off x="8714232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9153144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妊娠・出産後は</a:t>
            </a:r>
          </a:p>
        </p:txBody>
      </p:sp>
      <p:sp>
        <p:nvSpPr>
          <p:cNvPr id="14" name="Shape 14"/>
          <p:cNvSpPr/>
          <p:nvPr/>
        </p:nvSpPr>
        <p:spPr>
          <a:xfrm>
            <a:off x="9153144" y="2336292"/>
            <a:ext cx="2203704" cy="16002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要相談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41248" y="47731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※収入が上下する前提で組みます。どちらかが減っても、責める話にしません。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お金で無理をせず、手を動かすほうで調整します。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収入は増える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NISAで積み立て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ています。有給消化の旅行などで、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使う可能性もあります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収入合算が必要なら、確定申告書2〜3期分を用意する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C9184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1828800"/>
            <a:ext cx="859536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4999"/>
              </a:lnSpc>
            </a:pPr>
            <a:r>
              <a:rPr lang="ja-JP" altLang="en-US" sz="5330" b="1">
                <a:solidFill>
                  <a:srgbClr val="C9184A"/>
                </a:solidFill>
                <a:latin typeface="Hiragino Maru Gothic ProN"/>
                <a:ea typeface="Hiragino Maru Gothic ProN"/>
                <a:cs typeface="Hiragino Maru Gothic ProN"/>
              </a:rPr>
              <a:t>この資料を、</a:t>
            </a:r>
          </a:p>
          <a:p>
            <a:pPr algn="l">
              <a:lnSpc>
                <a:spcPct val="114999"/>
              </a:lnSpc>
            </a:pPr>
            <a:r>
              <a:rPr lang="ja-JP" altLang="en-US" sz="5330" b="1">
                <a:solidFill>
                  <a:srgbClr val="C9184A"/>
                </a:solidFill>
                <a:latin typeface="Hiragino Maru Gothic ProN"/>
                <a:ea typeface="Hiragino Maru Gothic ProN"/>
                <a:cs typeface="Hiragino Maru Gothic ProN"/>
              </a:rPr>
              <a:t>たたき台にしてください。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4754880"/>
            <a:ext cx="859536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Hiragino Maru Gothic ProN"/>
                <a:ea typeface="Hiragino Maru Gothic ProN"/>
                <a:cs typeface="Hiragino Maru Gothic ProN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
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http://schemas.openxmlformats.org/officeDocument/2006/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695" cy="6858000"/>
  <p:notesSz cx="6858000" cy="9144000"/>
  <p:defaultTextStyle>
    <a:defPPr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Yu Gothic"/>
        <a:ea typeface="Yu Gothic"/>
        <a:cs typeface="Yu Gothic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渡すときの一言：「決めてほしいんじゃなくて、直してほしい」。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最初に「決裁じゃない」と言い切る。持ち帰ってもらう前提。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空欄は責めない。「ここ埋めてね」で終える。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「削らない」を先に言うと、あとの「後回し」が我慢じゃなく設計に見える。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指差すのは2027年後半の一か所だけ。「ここで分かれる、それだけ」。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今の家が7.5万で安いのは資産。「ひとりで動く」は本当に必要なときだけ。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カンヌは隠さない。「家計に影響しない」の一点だけ伝わればいい。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黄色の行が、彼への唯一の宿題。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「改善中」は正直に。自己PRはしない。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/>
              <a:t>言い終わったら、答えを待たない。持ち帰ってもらう。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841248" y="2331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7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【彼の名前】さん 御中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1248" y="2971800"/>
            <a:ext cx="10515600" cy="15544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0000"/>
              </a:lnSpc>
            </a:pPr>
            <a:r>
              <a:rPr lang="ja-JP" altLang="en-US" sz="30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ふたりの計画のご提案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1248" y="56235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60000"/>
              </a:lnSpc>
            </a:pPr>
            <a:r>
              <a:rPr lang="ja-JP" altLang="en-US" sz="115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大隅絢加</a:t>
            </a:r>
          </a:p>
          <a:p>
            <a:pPr algn="l">
              <a:lnSpc>
                <a:spcPct val="160000"/>
              </a:lnSpc>
            </a:pPr>
            <a:r>
              <a:rPr lang="ja-JP" altLang="en-US" sz="115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2026.10</a:t>
            </a:r>
          </a:p>
        </p:txBody>
      </p:sp>
      <p:sp>
        <p:nvSpPr>
          <p:cNvPr id="6" name="Shape 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はじめに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566928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2000"/>
              </a:lnSpc>
            </a:pP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これは</a:t>
            </a:r>
            <a:r>
              <a:rPr lang="ja-JP" altLang="en-US" sz="2000" b="0">
                <a:solidFill>
                  <a:srgbClr val="14141A"/>
                </a:solidFill>
                <a:highlight>
                  <a:srgbClr val="FFD93D"/>
                </a:highlight>
                <a:latin typeface="Yu Gothic Medium"/>
                <a:ea typeface="Yu Gothic Medium"/>
                <a:cs typeface="Yu Gothic Medium"/>
              </a:rPr>
              <a:t>たたき台</a:t>
            </a: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です。赤を入れて返してください。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1248" y="266547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400" b="1" spc="80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72768" y="2610612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0000"/>
              </a:lnSpc>
            </a:pPr>
            <a:r>
              <a:rPr lang="ja-JP" altLang="en-US" sz="176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決まったことより、</a:t>
            </a:r>
            <a:r>
              <a:rPr lang="ja-JP" altLang="en-US" sz="176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まだ決まっていないこと</a:t>
            </a:r>
            <a:r>
              <a:rPr lang="ja-JP" altLang="en-US" sz="176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を大事にしています。決める期限だけ先に置きました。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1248" y="362559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400" b="1" spc="80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72768" y="3570732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0000"/>
              </a:lnSpc>
            </a:pPr>
            <a:r>
              <a:rPr lang="ja-JP" altLang="en-US" sz="18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数字は</a:t>
            </a:r>
            <a:r>
              <a:rPr lang="ja-JP" altLang="en-US" sz="18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私の側だけ</a:t>
            </a:r>
            <a:r>
              <a:rPr lang="ja-JP" altLang="en-US" sz="18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入れました。あなたの側は空欄です。次に会うときに埋めてください。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1248" y="458571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400" b="1" spc="80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72768" y="4530852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0000"/>
              </a:lnSpc>
            </a:pPr>
            <a:r>
              <a:rPr lang="ja-JP" altLang="en-US" sz="18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半年に一度この紙を開いて、直します。</a:t>
            </a:r>
            <a:r>
              <a:rPr lang="ja-JP" altLang="en-US" sz="18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次は2027年3月</a:t>
            </a:r>
            <a:r>
              <a:rPr lang="ja-JP" altLang="en-US" sz="18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ふたりの計画のご提案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2" name="Shape 1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前提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566928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2000"/>
              </a:lnSpc>
            </a:pP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私の側は数字を入れました。あなたの側の空欄は、次に会うときに埋めてください。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1248" y="1728216"/>
            <a:ext cx="2500884" cy="539496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項目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70148" y="1728216"/>
            <a:ext cx="4253484" cy="539496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51648" y="1728216"/>
            <a:ext cx="3377184" cy="539496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【彼の名前】</a:t>
            </a:r>
          </a:p>
        </p:txBody>
      </p:sp>
      <p:sp>
        <p:nvSpPr>
          <p:cNvPr id="7" name="Shape 7"/>
          <p:cNvSpPr/>
          <p:nvPr/>
        </p:nvSpPr>
        <p:spPr>
          <a:xfrm>
            <a:off x="841248" y="2255012"/>
            <a:ext cx="10515600" cy="25400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41248" y="2267712"/>
            <a:ext cx="2500884" cy="539496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年齢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70148" y="2267712"/>
            <a:ext cx="4253484" cy="539496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29歳（2026年10月〜）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51648" y="2267712"/>
            <a:ext cx="3377184" cy="539496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28歳（2026年8月〜）</a:t>
            </a:r>
          </a:p>
        </p:txBody>
      </p:sp>
      <p:sp>
        <p:nvSpPr>
          <p:cNvPr id="11" name="Shape 11"/>
          <p:cNvSpPr/>
          <p:nvPr/>
        </p:nvSpPr>
        <p:spPr>
          <a:xfrm>
            <a:off x="841248" y="2802128"/>
            <a:ext cx="10515600" cy="9525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841248" y="2807208"/>
            <a:ext cx="2500884" cy="539496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年収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70148" y="2807208"/>
            <a:ext cx="4253484" cy="539496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450万円 → </a:t>
            </a:r>
            <a:r>
              <a:rPr lang="ja-JP" altLang="en-US" sz="13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550万円</a:t>
            </a: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（転職後）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51648" y="2807208"/>
            <a:ext cx="3377184" cy="539496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教えてください</a:t>
            </a:r>
          </a:p>
        </p:txBody>
      </p:sp>
      <p:sp>
        <p:nvSpPr>
          <p:cNvPr id="15" name="Shape 15"/>
          <p:cNvSpPr/>
          <p:nvPr/>
        </p:nvSpPr>
        <p:spPr>
          <a:xfrm>
            <a:off x="841248" y="3341624"/>
            <a:ext cx="10515600" cy="9525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841248" y="3346704"/>
            <a:ext cx="2500884" cy="539496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資産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70148" y="3346704"/>
            <a:ext cx="4253484" cy="539496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NISA 225万円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51648" y="3346704"/>
            <a:ext cx="3377184" cy="539496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教えてください</a:t>
            </a:r>
          </a:p>
        </p:txBody>
      </p:sp>
      <p:sp>
        <p:nvSpPr>
          <p:cNvPr id="19" name="Shape 19"/>
          <p:cNvSpPr/>
          <p:nvPr/>
        </p:nvSpPr>
        <p:spPr>
          <a:xfrm>
            <a:off x="841248" y="3881120"/>
            <a:ext cx="10515600" cy="9525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841248" y="3886200"/>
            <a:ext cx="2500884" cy="539496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家賃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470148" y="3886200"/>
            <a:ext cx="4253484" cy="539496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7.5万円（据え置き）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51648" y="3886200"/>
            <a:ext cx="3377184" cy="539496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ルームシェア（笹塚）の予定額を教えてください</a:t>
            </a:r>
          </a:p>
        </p:txBody>
      </p:sp>
      <p:sp>
        <p:nvSpPr>
          <p:cNvPr id="23" name="Shape 23"/>
          <p:cNvSpPr/>
          <p:nvPr/>
        </p:nvSpPr>
        <p:spPr>
          <a:xfrm>
            <a:off x="841248" y="4420616"/>
            <a:ext cx="10515600" cy="9525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841248" y="4425696"/>
            <a:ext cx="2500884" cy="539496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出せる家賃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70148" y="4425696"/>
            <a:ext cx="4253484" cy="539496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上限10万円・目標9万円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51648" y="4425696"/>
            <a:ext cx="3377184" cy="539496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教えてください</a:t>
            </a:r>
          </a:p>
        </p:txBody>
      </p:sp>
      <p:sp>
        <p:nvSpPr>
          <p:cNvPr id="27" name="Shape 27"/>
          <p:cNvSpPr/>
          <p:nvPr/>
        </p:nvSpPr>
        <p:spPr>
          <a:xfrm>
            <a:off x="841248" y="4960112"/>
            <a:ext cx="10515600" cy="9525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841248" y="4965192"/>
            <a:ext cx="2500884" cy="539496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住まいの予定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70148" y="4965192"/>
            <a:ext cx="4253484" cy="539496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しばらく今の家に住み続ける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851648" y="4965192"/>
            <a:ext cx="3377184" cy="539496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実家を出て、笹塚でルームシェア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1248" y="568756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5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※私の年収は転職後の見込み。給与形態（賞与の有無）が分かった時点で、出せる家賃を確定します。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ふたりの計画のご提案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4" name="Shape 3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ゴール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566928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2000"/>
              </a:lnSpc>
            </a:pP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期限は2つ。削らないものも2つ。それ以外は、全部動かしていい。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1248" y="27477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入籍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1248" y="3113532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00000"/>
              </a:lnSpc>
            </a:pPr>
            <a:r>
              <a:rPr lang="ja-JP" altLang="en-US" sz="54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30</a:t>
            </a:r>
            <a:r>
              <a:rPr lang="ja-JP" altLang="en-US" sz="216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歳まで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1248" y="411937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50000"/>
              </a:lnSpc>
            </a:pPr>
            <a:r>
              <a:rPr lang="ja-JP" altLang="en-US" sz="11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2027年10月まで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98848" y="27477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子ども、一人目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98848" y="3113532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00000"/>
              </a:lnSpc>
            </a:pPr>
            <a:r>
              <a:rPr lang="ja-JP" altLang="en-US" sz="54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32</a:t>
            </a:r>
            <a:r>
              <a:rPr lang="ja-JP" altLang="en-US" sz="216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歳まで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98848" y="411937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50000"/>
              </a:lnSpc>
            </a:pPr>
            <a:r>
              <a:rPr lang="ja-JP" altLang="en-US" sz="11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2029年10月まで。2人目は一旦保留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56448" y="27477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削らないもの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56448" y="3113532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00000"/>
              </a:lnSpc>
            </a:pPr>
            <a:r>
              <a:rPr lang="ja-JP" altLang="en-US" sz="54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2</a:t>
            </a:r>
            <a:r>
              <a:rPr lang="ja-JP" altLang="en-US" sz="216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56448" y="411937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50000"/>
              </a:lnSpc>
            </a:pPr>
            <a:r>
              <a:rPr lang="ja-JP" altLang="en-US" sz="11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写真と、新婚旅行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1248" y="485089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式と指輪は後回し。時期も規模も、まだ決めない。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ふたりの計画のご提案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6" name="Shape 1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ロードマップ</a:t>
            </a:r>
            <a:r>
              <a:rPr lang="ja-JP" altLang="en-US" sz="1200" b="0" spc="6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　分岐は2027年後半の一か所だけ。あとは順番どおり</a:t>
            </a:r>
          </a:p>
        </p:txBody>
      </p:sp>
      <p:sp>
        <p:nvSpPr>
          <p:cNvPr id="3" name="Shape 3"/>
          <p:cNvSpPr/>
          <p:nvPr/>
        </p:nvSpPr>
        <p:spPr>
          <a:xfrm>
            <a:off x="960120" y="1051560"/>
            <a:ext cx="842865" cy="310896"/>
          </a:xfrm>
          <a:prstGeom prst="rect">
            <a:avLst/>
          </a:prstGeom>
          <a:solidFill>
            <a:srgbClr val="FBE9F2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3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2026</a:t>
            </a:r>
          </a:p>
        </p:txBody>
      </p:sp>
      <p:sp>
        <p:nvSpPr>
          <p:cNvPr id="4" name="Shape 4"/>
          <p:cNvSpPr/>
          <p:nvPr/>
        </p:nvSpPr>
        <p:spPr>
          <a:xfrm>
            <a:off x="960120" y="1362456"/>
            <a:ext cx="842865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10-12</a:t>
            </a:r>
          </a:p>
        </p:txBody>
      </p:sp>
      <p:sp>
        <p:nvSpPr>
          <p:cNvPr id="5" name="Shape 5"/>
          <p:cNvSpPr/>
          <p:nvPr/>
        </p:nvSpPr>
        <p:spPr>
          <a:xfrm>
            <a:off x="1802985" y="1051560"/>
            <a:ext cx="3371460" cy="310896"/>
          </a:xfrm>
          <a:prstGeom prst="rect">
            <a:avLst/>
          </a:prstGeom>
          <a:solidFill>
            <a:srgbClr val="FBE9F2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3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2027</a:t>
            </a:r>
          </a:p>
        </p:txBody>
      </p:sp>
      <p:sp>
        <p:nvSpPr>
          <p:cNvPr id="6" name="Shape 6"/>
          <p:cNvSpPr/>
          <p:nvPr/>
        </p:nvSpPr>
        <p:spPr>
          <a:xfrm>
            <a:off x="1802985" y="1362456"/>
            <a:ext cx="842865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1-3</a:t>
            </a:r>
          </a:p>
        </p:txBody>
      </p:sp>
      <p:sp>
        <p:nvSpPr>
          <p:cNvPr id="7" name="Shape 7"/>
          <p:cNvSpPr/>
          <p:nvPr/>
        </p:nvSpPr>
        <p:spPr>
          <a:xfrm>
            <a:off x="2645850" y="1362456"/>
            <a:ext cx="842865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4-6</a:t>
            </a:r>
          </a:p>
        </p:txBody>
      </p:sp>
      <p:sp>
        <p:nvSpPr>
          <p:cNvPr id="8" name="Shape 8"/>
          <p:cNvSpPr/>
          <p:nvPr/>
        </p:nvSpPr>
        <p:spPr>
          <a:xfrm>
            <a:off x="3488715" y="1362456"/>
            <a:ext cx="842865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7-9</a:t>
            </a:r>
          </a:p>
        </p:txBody>
      </p:sp>
      <p:sp>
        <p:nvSpPr>
          <p:cNvPr id="9" name="Shape 9"/>
          <p:cNvSpPr/>
          <p:nvPr/>
        </p:nvSpPr>
        <p:spPr>
          <a:xfrm>
            <a:off x="4331580" y="1362456"/>
            <a:ext cx="842865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10-12</a:t>
            </a:r>
          </a:p>
        </p:txBody>
      </p:sp>
      <p:sp>
        <p:nvSpPr>
          <p:cNvPr id="10" name="Shape 10"/>
          <p:cNvSpPr/>
          <p:nvPr/>
        </p:nvSpPr>
        <p:spPr>
          <a:xfrm>
            <a:off x="5174445" y="1051560"/>
            <a:ext cx="3371460" cy="310896"/>
          </a:xfrm>
          <a:prstGeom prst="rect">
            <a:avLst/>
          </a:prstGeom>
          <a:solidFill>
            <a:srgbClr val="FBE9F2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3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2028</a:t>
            </a:r>
          </a:p>
        </p:txBody>
      </p:sp>
      <p:sp>
        <p:nvSpPr>
          <p:cNvPr id="11" name="Shape 11"/>
          <p:cNvSpPr/>
          <p:nvPr/>
        </p:nvSpPr>
        <p:spPr>
          <a:xfrm>
            <a:off x="5174445" y="1362456"/>
            <a:ext cx="842865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1-3</a:t>
            </a:r>
          </a:p>
        </p:txBody>
      </p:sp>
      <p:sp>
        <p:nvSpPr>
          <p:cNvPr id="12" name="Shape 12"/>
          <p:cNvSpPr/>
          <p:nvPr/>
        </p:nvSpPr>
        <p:spPr>
          <a:xfrm>
            <a:off x="6017310" y="1362456"/>
            <a:ext cx="842865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4-6</a:t>
            </a:r>
          </a:p>
        </p:txBody>
      </p:sp>
      <p:sp>
        <p:nvSpPr>
          <p:cNvPr id="13" name="Shape 13"/>
          <p:cNvSpPr/>
          <p:nvPr/>
        </p:nvSpPr>
        <p:spPr>
          <a:xfrm>
            <a:off x="6860175" y="1362456"/>
            <a:ext cx="842865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7-9</a:t>
            </a:r>
          </a:p>
        </p:txBody>
      </p:sp>
      <p:sp>
        <p:nvSpPr>
          <p:cNvPr id="14" name="Shape 14"/>
          <p:cNvSpPr/>
          <p:nvPr/>
        </p:nvSpPr>
        <p:spPr>
          <a:xfrm>
            <a:off x="7703040" y="1362456"/>
            <a:ext cx="842865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10-12</a:t>
            </a:r>
          </a:p>
        </p:txBody>
      </p:sp>
      <p:sp>
        <p:nvSpPr>
          <p:cNvPr id="15" name="Shape 15"/>
          <p:cNvSpPr/>
          <p:nvPr/>
        </p:nvSpPr>
        <p:spPr>
          <a:xfrm>
            <a:off x="8545905" y="1051560"/>
            <a:ext cx="3371460" cy="310896"/>
          </a:xfrm>
          <a:prstGeom prst="rect">
            <a:avLst/>
          </a:prstGeom>
          <a:solidFill>
            <a:srgbClr val="FBE9F2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3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2029</a:t>
            </a:r>
          </a:p>
        </p:txBody>
      </p:sp>
      <p:sp>
        <p:nvSpPr>
          <p:cNvPr id="16" name="Shape 16"/>
          <p:cNvSpPr/>
          <p:nvPr/>
        </p:nvSpPr>
        <p:spPr>
          <a:xfrm>
            <a:off x="8545905" y="1362456"/>
            <a:ext cx="842865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1-3</a:t>
            </a:r>
          </a:p>
        </p:txBody>
      </p:sp>
      <p:sp>
        <p:nvSpPr>
          <p:cNvPr id="17" name="Shape 17"/>
          <p:cNvSpPr/>
          <p:nvPr/>
        </p:nvSpPr>
        <p:spPr>
          <a:xfrm>
            <a:off x="9388770" y="1362456"/>
            <a:ext cx="842865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4-6</a:t>
            </a:r>
          </a:p>
        </p:txBody>
      </p:sp>
      <p:sp>
        <p:nvSpPr>
          <p:cNvPr id="18" name="Shape 18"/>
          <p:cNvSpPr/>
          <p:nvPr/>
        </p:nvSpPr>
        <p:spPr>
          <a:xfrm>
            <a:off x="10231635" y="1362456"/>
            <a:ext cx="842865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7-9</a:t>
            </a:r>
          </a:p>
        </p:txBody>
      </p:sp>
      <p:sp>
        <p:nvSpPr>
          <p:cNvPr id="19" name="Shape 19"/>
          <p:cNvSpPr/>
          <p:nvPr/>
        </p:nvSpPr>
        <p:spPr>
          <a:xfrm>
            <a:off x="11074500" y="1362456"/>
            <a:ext cx="842865" cy="310896"/>
          </a:xfrm>
          <a:prstGeom prst="rect">
            <a:avLst/>
          </a:prstGeom>
          <a:noFill/>
          <a:ln w="9525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10-12</a:t>
            </a:r>
          </a:p>
        </p:txBody>
      </p:sp>
      <p:sp>
        <p:nvSpPr>
          <p:cNvPr id="20" name="Shape 20"/>
          <p:cNvSpPr/>
          <p:nvPr/>
        </p:nvSpPr>
        <p:spPr>
          <a:xfrm>
            <a:off x="960120" y="1673352"/>
            <a:ext cx="9525" cy="4087368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1" name="Shape 21"/>
          <p:cNvSpPr/>
          <p:nvPr/>
        </p:nvSpPr>
        <p:spPr>
          <a:xfrm>
            <a:off x="1802985" y="1673352"/>
            <a:ext cx="9525" cy="4087368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2" name="Shape 22"/>
          <p:cNvSpPr/>
          <p:nvPr/>
        </p:nvSpPr>
        <p:spPr>
          <a:xfrm>
            <a:off x="2645850" y="1673352"/>
            <a:ext cx="9525" cy="4087368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3" name="Shape 23"/>
          <p:cNvSpPr/>
          <p:nvPr/>
        </p:nvSpPr>
        <p:spPr>
          <a:xfrm>
            <a:off x="3488715" y="1673352"/>
            <a:ext cx="9525" cy="4087368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4" name="Shape 24"/>
          <p:cNvSpPr/>
          <p:nvPr/>
        </p:nvSpPr>
        <p:spPr>
          <a:xfrm>
            <a:off x="4331580" y="1673352"/>
            <a:ext cx="9525" cy="4087368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5" name="Shape 25"/>
          <p:cNvSpPr/>
          <p:nvPr/>
        </p:nvSpPr>
        <p:spPr>
          <a:xfrm>
            <a:off x="5174445" y="1673352"/>
            <a:ext cx="9525" cy="4087368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6" name="Shape 26"/>
          <p:cNvSpPr/>
          <p:nvPr/>
        </p:nvSpPr>
        <p:spPr>
          <a:xfrm>
            <a:off x="6017310" y="1673352"/>
            <a:ext cx="9525" cy="4087368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7" name="Shape 27"/>
          <p:cNvSpPr/>
          <p:nvPr/>
        </p:nvSpPr>
        <p:spPr>
          <a:xfrm>
            <a:off x="6860175" y="1673352"/>
            <a:ext cx="9525" cy="4087368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8" name="Shape 28"/>
          <p:cNvSpPr/>
          <p:nvPr/>
        </p:nvSpPr>
        <p:spPr>
          <a:xfrm>
            <a:off x="7703040" y="1673352"/>
            <a:ext cx="9525" cy="4087368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9" name="Shape 29"/>
          <p:cNvSpPr/>
          <p:nvPr/>
        </p:nvSpPr>
        <p:spPr>
          <a:xfrm>
            <a:off x="8545905" y="1673352"/>
            <a:ext cx="9525" cy="4087368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30" name="Shape 30"/>
          <p:cNvSpPr/>
          <p:nvPr/>
        </p:nvSpPr>
        <p:spPr>
          <a:xfrm>
            <a:off x="9388770" y="1673352"/>
            <a:ext cx="9525" cy="4087368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31" name="Shape 31"/>
          <p:cNvSpPr/>
          <p:nvPr/>
        </p:nvSpPr>
        <p:spPr>
          <a:xfrm>
            <a:off x="10231635" y="1673352"/>
            <a:ext cx="9525" cy="4087368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32" name="Shape 32"/>
          <p:cNvSpPr/>
          <p:nvPr/>
        </p:nvSpPr>
        <p:spPr>
          <a:xfrm>
            <a:off x="11074500" y="1673352"/>
            <a:ext cx="9525" cy="4087368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33" name="Shape 33"/>
          <p:cNvSpPr/>
          <p:nvPr/>
        </p:nvSpPr>
        <p:spPr>
          <a:xfrm>
            <a:off x="11917365" y="1673352"/>
            <a:ext cx="9525" cy="4087368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34" name="Shape 34"/>
          <p:cNvSpPr/>
          <p:nvPr/>
        </p:nvSpPr>
        <p:spPr>
          <a:xfrm>
            <a:off x="274320" y="2350008"/>
            <a:ext cx="640080" cy="376936"/>
          </a:xfrm>
          <a:prstGeom prst="rect">
            <a:avLst/>
          </a:prstGeom>
          <a:solidFill>
            <a:srgbClr val="FBE9F2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仕事</a:t>
            </a:r>
          </a:p>
        </p:txBody>
      </p:sp>
      <p:sp>
        <p:nvSpPr>
          <p:cNvPr id="35" name="Shape 35"/>
          <p:cNvSpPr/>
          <p:nvPr/>
        </p:nvSpPr>
        <p:spPr>
          <a:xfrm>
            <a:off x="987552" y="2404872"/>
            <a:ext cx="788001" cy="267208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転職</a:t>
            </a:r>
          </a:p>
        </p:txBody>
      </p:sp>
      <p:sp>
        <p:nvSpPr>
          <p:cNvPr id="36" name="Shape 36"/>
          <p:cNvSpPr/>
          <p:nvPr/>
        </p:nvSpPr>
        <p:spPr>
          <a:xfrm>
            <a:off x="1830417" y="2404872"/>
            <a:ext cx="1630866" cy="267208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7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新しい会社に集中</a:t>
            </a:r>
          </a:p>
        </p:txBody>
      </p:sp>
      <p:sp>
        <p:nvSpPr>
          <p:cNvPr id="37" name="Shape 37"/>
          <p:cNvSpPr/>
          <p:nvPr/>
        </p:nvSpPr>
        <p:spPr>
          <a:xfrm>
            <a:off x="274320" y="2726944"/>
            <a:ext cx="640080" cy="1130808"/>
          </a:xfrm>
          <a:prstGeom prst="rect">
            <a:avLst/>
          </a:prstGeom>
          <a:solidFill>
            <a:srgbClr val="FBE9F2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住まい</a:t>
            </a:r>
          </a:p>
        </p:txBody>
      </p:sp>
      <p:sp>
        <p:nvSpPr>
          <p:cNvPr id="38" name="Shape 38"/>
          <p:cNvSpPr/>
          <p:nvPr/>
        </p:nvSpPr>
        <p:spPr>
          <a:xfrm>
            <a:off x="987552" y="2781808"/>
            <a:ext cx="2473731" cy="267208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7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彼：ルームシェア（笹塚）</a:t>
            </a:r>
          </a:p>
        </p:txBody>
      </p:sp>
      <p:sp>
        <p:nvSpPr>
          <p:cNvPr id="39" name="Shape 39"/>
          <p:cNvSpPr/>
          <p:nvPr/>
        </p:nvSpPr>
        <p:spPr>
          <a:xfrm>
            <a:off x="987552" y="3158744"/>
            <a:ext cx="2473731" cy="267208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7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私：今の家に住み続ける</a:t>
            </a:r>
          </a:p>
        </p:txBody>
      </p:sp>
      <p:sp>
        <p:nvSpPr>
          <p:cNvPr id="40" name="Shape 40"/>
          <p:cNvSpPr/>
          <p:nvPr/>
        </p:nvSpPr>
        <p:spPr>
          <a:xfrm>
            <a:off x="3516147" y="3158744"/>
            <a:ext cx="1630866" cy="267208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84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二人の家へ</a:t>
            </a:r>
          </a:p>
        </p:txBody>
      </p:sp>
      <p:sp>
        <p:nvSpPr>
          <p:cNvPr id="41" name="Shape 41"/>
          <p:cNvSpPr/>
          <p:nvPr/>
        </p:nvSpPr>
        <p:spPr>
          <a:xfrm>
            <a:off x="1830417" y="3535680"/>
            <a:ext cx="1630866" cy="267208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7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補助の確認・予算とエリア</a:t>
            </a:r>
          </a:p>
        </p:txBody>
      </p:sp>
      <p:sp>
        <p:nvSpPr>
          <p:cNvPr id="42" name="Shape 42"/>
          <p:cNvSpPr/>
          <p:nvPr/>
        </p:nvSpPr>
        <p:spPr>
          <a:xfrm>
            <a:off x="3516147" y="3535680"/>
            <a:ext cx="788001" cy="267208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7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場所と条件</a:t>
            </a:r>
          </a:p>
        </p:txBody>
      </p:sp>
      <p:sp>
        <p:nvSpPr>
          <p:cNvPr id="43" name="Shape 43"/>
          <p:cNvSpPr/>
          <p:nvPr/>
        </p:nvSpPr>
        <p:spPr>
          <a:xfrm>
            <a:off x="274320" y="3857752"/>
            <a:ext cx="640080" cy="753872"/>
          </a:xfrm>
          <a:prstGeom prst="rect">
            <a:avLst/>
          </a:prstGeom>
          <a:solidFill>
            <a:srgbClr val="FBE9F2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節目</a:t>
            </a:r>
          </a:p>
        </p:txBody>
      </p:sp>
      <p:sp>
        <p:nvSpPr>
          <p:cNvPr id="44" name="Shape 44"/>
          <p:cNvSpPr/>
          <p:nvPr/>
        </p:nvSpPr>
        <p:spPr>
          <a:xfrm>
            <a:off x="4359012" y="3912616"/>
            <a:ext cx="788001" cy="267208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入籍</a:t>
            </a:r>
          </a:p>
        </p:txBody>
      </p:sp>
      <p:sp>
        <p:nvSpPr>
          <p:cNvPr id="45" name="Shape 45"/>
          <p:cNvSpPr/>
          <p:nvPr/>
        </p:nvSpPr>
        <p:spPr>
          <a:xfrm>
            <a:off x="5201877" y="4289552"/>
            <a:ext cx="1630866" cy="267208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7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写真・新婚旅行</a:t>
            </a:r>
          </a:p>
        </p:txBody>
      </p:sp>
      <p:sp>
        <p:nvSpPr>
          <p:cNvPr id="46" name="Shape 46"/>
          <p:cNvSpPr/>
          <p:nvPr/>
        </p:nvSpPr>
        <p:spPr>
          <a:xfrm>
            <a:off x="274320" y="4611624"/>
            <a:ext cx="640080" cy="376936"/>
          </a:xfrm>
          <a:prstGeom prst="rect">
            <a:avLst/>
          </a:prstGeom>
          <a:solidFill>
            <a:srgbClr val="FBE9F2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子ども</a:t>
            </a:r>
          </a:p>
        </p:txBody>
      </p:sp>
      <p:sp>
        <p:nvSpPr>
          <p:cNvPr id="47" name="Shape 47"/>
          <p:cNvSpPr/>
          <p:nvPr/>
        </p:nvSpPr>
        <p:spPr>
          <a:xfrm>
            <a:off x="6044742" y="4666488"/>
            <a:ext cx="3316596" cy="267208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93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妊活（半年〜1年）</a:t>
            </a:r>
          </a:p>
        </p:txBody>
      </p:sp>
      <p:sp>
        <p:nvSpPr>
          <p:cNvPr id="48" name="Shape 48"/>
          <p:cNvSpPr/>
          <p:nvPr/>
        </p:nvSpPr>
        <p:spPr>
          <a:xfrm>
            <a:off x="9416202" y="4666488"/>
            <a:ext cx="2473731" cy="267208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一人目</a:t>
            </a:r>
          </a:p>
        </p:txBody>
      </p:sp>
      <p:sp>
        <p:nvSpPr>
          <p:cNvPr id="49" name="Shape 49"/>
          <p:cNvSpPr/>
          <p:nvPr/>
        </p:nvSpPr>
        <p:spPr>
          <a:xfrm>
            <a:off x="274320" y="4988560"/>
            <a:ext cx="640080" cy="376936"/>
          </a:xfrm>
          <a:prstGeom prst="rect">
            <a:avLst/>
          </a:prstGeom>
          <a:solidFill>
            <a:srgbClr val="FBE9F2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私</a:t>
            </a:r>
          </a:p>
        </p:txBody>
      </p:sp>
      <p:sp>
        <p:nvSpPr>
          <p:cNvPr id="50" name="Shape 50"/>
          <p:cNvSpPr/>
          <p:nvPr/>
        </p:nvSpPr>
        <p:spPr>
          <a:xfrm>
            <a:off x="6044742" y="5043424"/>
            <a:ext cx="788001" cy="267208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7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カンヌ</a:t>
            </a:r>
          </a:p>
        </p:txBody>
      </p:sp>
      <p:sp>
        <p:nvSpPr>
          <p:cNvPr id="51" name="Shape 51"/>
          <p:cNvSpPr/>
          <p:nvPr/>
        </p:nvSpPr>
        <p:spPr>
          <a:xfrm>
            <a:off x="274320" y="5365496"/>
            <a:ext cx="640080" cy="376936"/>
          </a:xfrm>
          <a:prstGeom prst="rect">
            <a:avLst/>
          </a:prstGeom>
          <a:solidFill>
            <a:srgbClr val="FBE9F2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00" b="1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後回し</a:t>
            </a:r>
          </a:p>
        </p:txBody>
      </p:sp>
      <p:sp>
        <p:nvSpPr>
          <p:cNvPr id="52" name="Shape 52"/>
          <p:cNvSpPr/>
          <p:nvPr/>
        </p:nvSpPr>
        <p:spPr>
          <a:xfrm>
            <a:off x="7730472" y="5420360"/>
            <a:ext cx="4159461" cy="267208"/>
          </a:xfrm>
          <a:prstGeom prst="rect">
            <a:avLst/>
          </a:prstGeom>
          <a:solidFill>
            <a:srgbClr val="A3A3AE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式・指輪（時期未定）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52952" y="1709928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45000"/>
              </a:lnSpc>
            </a:pPr>
            <a:r>
              <a:rPr lang="ja-JP" altLang="en-US" sz="1500" b="0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★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12872" y="200253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25000"/>
              </a:lnSpc>
            </a:pPr>
            <a:r>
              <a:rPr lang="ja-JP" altLang="en-US" sz="8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ご提案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995817" y="1709928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45000"/>
              </a:lnSpc>
            </a:pPr>
            <a:r>
              <a:rPr lang="ja-JP" altLang="en-US" sz="1500" b="0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355737" y="200253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25000"/>
              </a:lnSpc>
            </a:pPr>
            <a:r>
              <a:rPr lang="ja-JP" altLang="en-US" sz="8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補助の条件を確認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524412" y="1709928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45000"/>
              </a:lnSpc>
            </a:pPr>
            <a:r>
              <a:rPr lang="ja-JP" altLang="en-US" sz="1500" b="0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★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884332" y="200253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25000"/>
              </a:lnSpc>
            </a:pPr>
            <a:r>
              <a:rPr lang="ja-JP" altLang="en-US" sz="8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30歳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267332" y="1709928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45000"/>
              </a:lnSpc>
            </a:pPr>
            <a:r>
              <a:rPr lang="ja-JP" altLang="en-US" sz="1500" b="0">
                <a:solidFill>
                  <a:srgbClr val="B5025D"/>
                </a:solidFill>
                <a:latin typeface="Yu Gothic"/>
                <a:ea typeface="Yu Gothic"/>
                <a:cs typeface="Yu Gothic"/>
              </a:rPr>
              <a:t>★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627252" y="200253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25000"/>
              </a:lnSpc>
            </a:pPr>
            <a:r>
              <a:rPr lang="ja-JP" altLang="en-US" sz="8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32歳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74320" y="5897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5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*時期はすべて目安。半年ごとに引き直します。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ふたりの計画のご提案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64" name="Shape 6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住まい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566928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2000"/>
              </a:lnSpc>
            </a:pP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分岐は一つ、家賃補助が使えるかどうか。どちらでも、最初の二人の家は</a:t>
            </a:r>
            <a:r>
              <a:rPr lang="ja-JP" altLang="en-US" sz="2000" b="0">
                <a:solidFill>
                  <a:srgbClr val="14141A"/>
                </a:solidFill>
                <a:highlight>
                  <a:srgbClr val="FFD93D"/>
                </a:highlight>
                <a:latin typeface="Yu Gothic Medium"/>
                <a:ea typeface="Yu Gothic Medium"/>
                <a:cs typeface="Yu Gothic Medium"/>
              </a:rPr>
              <a:t>子ども前提の広さ</a:t>
            </a: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で。</a:t>
            </a:r>
          </a:p>
        </p:txBody>
      </p:sp>
      <p:sp>
        <p:nvSpPr>
          <p:cNvPr id="4" name="Shape 4"/>
          <p:cNvSpPr/>
          <p:nvPr/>
        </p:nvSpPr>
        <p:spPr>
          <a:xfrm>
            <a:off x="841248" y="1924812"/>
            <a:ext cx="333451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5" name="Shape 5"/>
          <p:cNvSpPr/>
          <p:nvPr/>
        </p:nvSpPr>
        <p:spPr>
          <a:xfrm>
            <a:off x="1133856" y="2290572"/>
            <a:ext cx="1143000" cy="2743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補助が使える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3856" y="2793492"/>
            <a:ext cx="2749296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2027年後半、</a:t>
            </a:r>
          </a:p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二人の家へ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3856" y="3845052"/>
            <a:ext cx="2749296" cy="1691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80000"/>
              </a:lnSpc>
            </a:pPr>
            <a:r>
              <a:rPr lang="ja-JP" altLang="en-US" sz="12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補助の条件（入籍が条件か、上限、回数）に合わせて場所を決める。入籍は住む前か、住むタイミング。</a:t>
            </a:r>
          </a:p>
        </p:txBody>
      </p:sp>
      <p:sp>
        <p:nvSpPr>
          <p:cNvPr id="8" name="Shape 8"/>
          <p:cNvSpPr/>
          <p:nvPr/>
        </p:nvSpPr>
        <p:spPr>
          <a:xfrm>
            <a:off x="4431792" y="1924812"/>
            <a:ext cx="333451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9" name="Shape 9"/>
          <p:cNvSpPr/>
          <p:nvPr/>
        </p:nvSpPr>
        <p:spPr>
          <a:xfrm>
            <a:off x="4724400" y="2290572"/>
            <a:ext cx="1143000" cy="2743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補助が使えない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24400" y="2793492"/>
            <a:ext cx="2749296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私が一度、</a:t>
            </a:r>
          </a:p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ひとりで動く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24400" y="3845052"/>
            <a:ext cx="2749296" cy="1691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80000"/>
              </a:lnSpc>
            </a:pPr>
            <a:r>
              <a:rPr lang="ja-JP" altLang="en-US" sz="12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二人で住むのに向かない条件なら、私が先にひとりで引っ越す。二人の家は補助なしで探す。</a:t>
            </a:r>
          </a:p>
        </p:txBody>
      </p:sp>
      <p:sp>
        <p:nvSpPr>
          <p:cNvPr id="12" name="Shape 12"/>
          <p:cNvSpPr/>
          <p:nvPr/>
        </p:nvSpPr>
        <p:spPr>
          <a:xfrm>
            <a:off x="8022336" y="1924812"/>
            <a:ext cx="333451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3" name="Shape 13"/>
          <p:cNvSpPr/>
          <p:nvPr/>
        </p:nvSpPr>
        <p:spPr>
          <a:xfrm>
            <a:off x="8314944" y="2290572"/>
            <a:ext cx="1143000" cy="2743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どちらでも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14944" y="2793492"/>
            <a:ext cx="2749296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引っ越しは</a:t>
            </a:r>
          </a:p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1回にする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14944" y="3845052"/>
            <a:ext cx="2749296" cy="1691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80000"/>
              </a:lnSpc>
            </a:pPr>
            <a:r>
              <a:rPr lang="ja-JP" altLang="en-US" sz="12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引っ越しは1回ごとに家賃4〜5か月分が飛ぶ。3回なら式が挙がる額。補助は一番長く住む家に使う。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ふたりの計画のご提案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8" name="Shape 18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お金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566928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2000"/>
              </a:lnSpc>
            </a:pP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削らないものの原資は、転職で増える分。今あるものは崩さない。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1248" y="1728216"/>
            <a:ext cx="215036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項目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119628" y="1728216"/>
            <a:ext cx="600608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内容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53728" y="1728216"/>
            <a:ext cx="197510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負担</a:t>
            </a:r>
          </a:p>
        </p:txBody>
      </p:sp>
      <p:sp>
        <p:nvSpPr>
          <p:cNvPr id="7" name="Shape 7"/>
          <p:cNvSpPr/>
          <p:nvPr/>
        </p:nvSpPr>
        <p:spPr>
          <a:xfrm>
            <a:off x="841248" y="2187575"/>
            <a:ext cx="10515600" cy="25400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41248" y="2200275"/>
            <a:ext cx="215036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家賃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19628" y="2200275"/>
            <a:ext cx="600608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二人の家は月20万円まで。私は上限10万・目標9万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53728" y="2200275"/>
            <a:ext cx="197510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折半</a:t>
            </a:r>
          </a:p>
        </p:txBody>
      </p:sp>
      <p:sp>
        <p:nvSpPr>
          <p:cNvPr id="11" name="Shape 11"/>
          <p:cNvSpPr/>
          <p:nvPr/>
        </p:nvSpPr>
        <p:spPr>
          <a:xfrm>
            <a:off x="841248" y="2667254"/>
            <a:ext cx="10515600" cy="9525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841248" y="2672334"/>
            <a:ext cx="215036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共同口座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19628" y="2672334"/>
            <a:ext cx="600608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生活費と貯金はここから。二人の家と同時に開設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53728" y="2672334"/>
            <a:ext cx="197510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ふたり</a:t>
            </a:r>
          </a:p>
        </p:txBody>
      </p:sp>
      <p:sp>
        <p:nvSpPr>
          <p:cNvPr id="15" name="Shape 15"/>
          <p:cNvSpPr/>
          <p:nvPr/>
        </p:nvSpPr>
        <p:spPr>
          <a:xfrm>
            <a:off x="841248" y="3139313"/>
            <a:ext cx="10515600" cy="9525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841248" y="3144393"/>
            <a:ext cx="215036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写真・新婚旅行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19628" y="3144393"/>
            <a:ext cx="600608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削らない。転職で増える分から、月に決めた額を積む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53728" y="3144393"/>
            <a:ext cx="197510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ふたり</a:t>
            </a:r>
          </a:p>
        </p:txBody>
      </p:sp>
      <p:sp>
        <p:nvSpPr>
          <p:cNvPr id="19" name="Shape 19"/>
          <p:cNvSpPr/>
          <p:nvPr/>
        </p:nvSpPr>
        <p:spPr>
          <a:xfrm>
            <a:off x="841248" y="3611372"/>
            <a:ext cx="10515600" cy="9525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841248" y="3616452"/>
            <a:ext cx="215036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出産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19628" y="3616452"/>
            <a:ext cx="600608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2029年まで。共同口座から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53728" y="3616452"/>
            <a:ext cx="197510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ふたり</a:t>
            </a:r>
          </a:p>
        </p:txBody>
      </p:sp>
      <p:sp>
        <p:nvSpPr>
          <p:cNvPr id="23" name="Shape 23"/>
          <p:cNvSpPr/>
          <p:nvPr/>
        </p:nvSpPr>
        <p:spPr>
          <a:xfrm>
            <a:off x="841248" y="4083431"/>
            <a:ext cx="10515600" cy="9525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841248" y="4088511"/>
            <a:ext cx="215036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カンヌ（2028年6月）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119628" y="4088511"/>
            <a:ext cx="600608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私の仕事。約100万円。家計からは出さない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53728" y="4088511"/>
            <a:ext cx="197510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私側（会社負担含む）</a:t>
            </a:r>
          </a:p>
        </p:txBody>
      </p:sp>
      <p:sp>
        <p:nvSpPr>
          <p:cNvPr id="27" name="Shape 27"/>
          <p:cNvSpPr/>
          <p:nvPr/>
        </p:nvSpPr>
        <p:spPr>
          <a:xfrm>
            <a:off x="841248" y="4555490"/>
            <a:ext cx="10515600" cy="9525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841248" y="4560570"/>
            <a:ext cx="215036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NISA 225万円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119628" y="4560570"/>
            <a:ext cx="600608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崩さない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53728" y="4560570"/>
            <a:ext cx="197510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私</a:t>
            </a:r>
          </a:p>
        </p:txBody>
      </p:sp>
      <p:sp>
        <p:nvSpPr>
          <p:cNvPr id="31" name="Shape 31"/>
          <p:cNvSpPr/>
          <p:nvPr/>
        </p:nvSpPr>
        <p:spPr>
          <a:xfrm>
            <a:off x="841248" y="5027549"/>
            <a:ext cx="10515600" cy="9525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841248" y="5032629"/>
            <a:ext cx="215036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式・指輪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119628" y="5032629"/>
            <a:ext cx="600608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後回し。時期も規模も未定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253728" y="5032629"/>
            <a:ext cx="1975104" cy="472059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未定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1248" y="568756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5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※金額は概算。転職後の給与明細で確定します。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ふたりの計画のご提案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38" name="Shape 38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決めること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566928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2000"/>
              </a:lnSpc>
            </a:pP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決まっていないことを、決める期限つきで置いておきます。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1248" y="1728216"/>
            <a:ext cx="6272784" cy="61787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決めること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42048" y="1728216"/>
            <a:ext cx="2157984" cy="61787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期限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28048" y="1728216"/>
            <a:ext cx="1700784" cy="61787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45000"/>
              </a:lnSpc>
            </a:pPr>
            <a:r>
              <a:rPr lang="ja-JP" altLang="en-US" sz="1100" b="1" spc="8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誰が</a:t>
            </a:r>
          </a:p>
        </p:txBody>
      </p:sp>
      <p:sp>
        <p:nvSpPr>
          <p:cNvPr id="7" name="Shape 7"/>
          <p:cNvSpPr/>
          <p:nvPr/>
        </p:nvSpPr>
        <p:spPr>
          <a:xfrm>
            <a:off x="841248" y="2333389"/>
            <a:ext cx="10515600" cy="25400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41248" y="2346089"/>
            <a:ext cx="6272784" cy="61787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会社の家賃補助の条件（入籍が条件か・家賃の上限・使える回数）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42048" y="2346089"/>
            <a:ext cx="2157984" cy="61787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2027年1月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28048" y="2346089"/>
            <a:ext cx="1700784" cy="61787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私</a:t>
            </a:r>
          </a:p>
        </p:txBody>
      </p:sp>
      <p:sp>
        <p:nvSpPr>
          <p:cNvPr id="11" name="Shape 11"/>
          <p:cNvSpPr/>
          <p:nvPr/>
        </p:nvSpPr>
        <p:spPr>
          <a:xfrm>
            <a:off x="841248" y="2958882"/>
            <a:ext cx="10515600" cy="9525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841248" y="2963962"/>
            <a:ext cx="6272784" cy="61787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転職先の給与形態（賞与の有無）を確認して、家賃の負担額を確定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42048" y="2963962"/>
            <a:ext cx="2157984" cy="61787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2027年1月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28048" y="2963962"/>
            <a:ext cx="1700784" cy="61787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私</a:t>
            </a:r>
          </a:p>
        </p:txBody>
      </p:sp>
      <p:sp>
        <p:nvSpPr>
          <p:cNvPr id="15" name="Shape 15"/>
          <p:cNvSpPr/>
          <p:nvPr/>
        </p:nvSpPr>
        <p:spPr>
          <a:xfrm>
            <a:off x="841248" y="3576755"/>
            <a:ext cx="10515600" cy="9525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841248" y="3581835"/>
            <a:ext cx="6272784" cy="61787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入籍を、住む前にするか、住むタイミングにするか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42048" y="3581835"/>
            <a:ext cx="2157984" cy="61787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2027年前半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28048" y="3581835"/>
            <a:ext cx="1700784" cy="61787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ふたり</a:t>
            </a:r>
          </a:p>
        </p:txBody>
      </p:sp>
      <p:sp>
        <p:nvSpPr>
          <p:cNvPr id="19" name="Shape 19"/>
          <p:cNvSpPr/>
          <p:nvPr/>
        </p:nvSpPr>
        <p:spPr>
          <a:xfrm>
            <a:off x="841248" y="4194628"/>
            <a:ext cx="10515600" cy="9525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841248" y="4199708"/>
            <a:ext cx="6272784" cy="61787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最初の二人の家を、子ども前提の広さにするか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42048" y="4199708"/>
            <a:ext cx="2157984" cy="61787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2027年前半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28048" y="4199708"/>
            <a:ext cx="1700784" cy="61787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ふたり</a:t>
            </a:r>
          </a:p>
        </p:txBody>
      </p:sp>
      <p:sp>
        <p:nvSpPr>
          <p:cNvPr id="23" name="Shape 23"/>
          <p:cNvSpPr/>
          <p:nvPr/>
        </p:nvSpPr>
        <p:spPr>
          <a:xfrm>
            <a:off x="841248" y="4812501"/>
            <a:ext cx="10515600" cy="9525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4" name="Shape 24"/>
          <p:cNvSpPr/>
          <p:nvPr/>
        </p:nvSpPr>
        <p:spPr>
          <a:xfrm>
            <a:off x="841248" y="4817581"/>
            <a:ext cx="10515600" cy="617873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932688" y="4817581"/>
            <a:ext cx="6181344" cy="61787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あなたの側の数字（年収・家賃・資産）を埋める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33488" y="4817581"/>
            <a:ext cx="2066544" cy="61787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次に会うとき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619488" y="4817581"/>
            <a:ext cx="1609344" cy="61787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【彼の名前】</a:t>
            </a:r>
          </a:p>
        </p:txBody>
      </p:sp>
      <p:sp>
        <p:nvSpPr>
          <p:cNvPr id="28" name="Shape 28"/>
          <p:cNvSpPr/>
          <p:nvPr/>
        </p:nvSpPr>
        <p:spPr>
          <a:xfrm>
            <a:off x="841248" y="5430374"/>
            <a:ext cx="10515600" cy="9525"/>
          </a:xfrm>
          <a:prstGeom prst="rect">
            <a:avLst/>
          </a:prstGeom>
          <a:solidFill>
            <a:srgbClr val="E7E7EE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841248" y="5435454"/>
            <a:ext cx="6272784" cy="61787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2人目をどうするか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42048" y="5435454"/>
            <a:ext cx="2157984" cy="61787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一人目のあと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28048" y="5435454"/>
            <a:ext cx="1700784" cy="617873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lnSpc>
                <a:spcPct val="150000"/>
              </a:lnSpc>
            </a:pPr>
            <a:r>
              <a:rPr lang="ja-JP" altLang="en-US" sz="1300" b="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ふたり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ふたりの計画のご提案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34" name="Shape 3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118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1200" b="1" spc="120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約束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566928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72000"/>
              </a:lnSpc>
            </a:pPr>
            <a:r>
              <a:rPr lang="ja-JP" altLang="en-US" sz="2000" b="0">
                <a:solidFill>
                  <a:srgbClr val="14141A"/>
                </a:solidFill>
                <a:latin typeface="Yu Gothic Medium"/>
                <a:ea typeface="Yu Gothic Medium"/>
                <a:cs typeface="Yu Gothic Medium"/>
              </a:rPr>
              <a:t>私の側から先に。変えないことと、直すことを分けて書きます。</a:t>
            </a:r>
          </a:p>
        </p:txBody>
      </p:sp>
      <p:sp>
        <p:nvSpPr>
          <p:cNvPr id="4" name="Shape 4"/>
          <p:cNvSpPr/>
          <p:nvPr/>
        </p:nvSpPr>
        <p:spPr>
          <a:xfrm>
            <a:off x="841248" y="1924812"/>
            <a:ext cx="2436876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5" name="Shape 5"/>
          <p:cNvSpPr/>
          <p:nvPr/>
        </p:nvSpPr>
        <p:spPr>
          <a:xfrm>
            <a:off x="1133856" y="2290572"/>
            <a:ext cx="1143000" cy="2743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仕事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3856" y="2793492"/>
            <a:ext cx="185166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熱量は</a:t>
            </a:r>
          </a:p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落とさない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3856" y="3845052"/>
            <a:ext cx="1851660" cy="1691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80000"/>
              </a:lnSpc>
            </a:pPr>
            <a:r>
              <a:rPr lang="ja-JP" altLang="en-US" sz="12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30歳まではお互い仕事優先。結婚が仕事の邪魔をしない設計にする。</a:t>
            </a:r>
          </a:p>
        </p:txBody>
      </p:sp>
      <p:sp>
        <p:nvSpPr>
          <p:cNvPr id="8" name="Shape 8"/>
          <p:cNvSpPr/>
          <p:nvPr/>
        </p:nvSpPr>
        <p:spPr>
          <a:xfrm>
            <a:off x="3534156" y="1924812"/>
            <a:ext cx="2436876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9" name="Shape 9"/>
          <p:cNvSpPr/>
          <p:nvPr/>
        </p:nvSpPr>
        <p:spPr>
          <a:xfrm>
            <a:off x="3826764" y="2290572"/>
            <a:ext cx="1143000" cy="2743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自由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26764" y="2793492"/>
            <a:ext cx="185166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ひとりの時間は</a:t>
            </a:r>
          </a:p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制度で守る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26764" y="3845052"/>
            <a:ext cx="1851660" cy="1691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80000"/>
              </a:lnSpc>
            </a:pPr>
            <a:r>
              <a:rPr lang="ja-JP" altLang="en-US" sz="12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二人の家に自室を持つ。週に一度は別行動でいい。</a:t>
            </a:r>
          </a:p>
        </p:txBody>
      </p:sp>
      <p:sp>
        <p:nvSpPr>
          <p:cNvPr id="12" name="Shape 12"/>
          <p:cNvSpPr/>
          <p:nvPr/>
        </p:nvSpPr>
        <p:spPr>
          <a:xfrm>
            <a:off x="6227064" y="1924812"/>
            <a:ext cx="2436876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3" name="Shape 13"/>
          <p:cNvSpPr/>
          <p:nvPr/>
        </p:nvSpPr>
        <p:spPr>
          <a:xfrm>
            <a:off x="6519672" y="2290572"/>
            <a:ext cx="1143000" cy="2743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家事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19672" y="2793492"/>
            <a:ext cx="185166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掃除は</a:t>
            </a:r>
          </a:p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改善中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19672" y="3845052"/>
            <a:ext cx="1851660" cy="1691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80000"/>
              </a:lnSpc>
            </a:pPr>
            <a:r>
              <a:rPr lang="ja-JP" altLang="en-US" sz="12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得意なほうがやる。決まらないものは外注も選択肢に入れる。</a:t>
            </a:r>
          </a:p>
        </p:txBody>
      </p:sp>
      <p:sp>
        <p:nvSpPr>
          <p:cNvPr id="16" name="Shape 16"/>
          <p:cNvSpPr/>
          <p:nvPr/>
        </p:nvSpPr>
        <p:spPr>
          <a:xfrm>
            <a:off x="8919972" y="1924812"/>
            <a:ext cx="2436876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txBody>
          <a:bodyPr wrap="square" lIns="0" tIns="0" rIns="0" bIns="0" anchor="ctr" rtlCol="0"/>
          <a:lstStyle/>
          <a:p/>
        </p:txBody>
      </p:sp>
      <p:sp>
        <p:nvSpPr>
          <p:cNvPr id="17" name="Shape 17"/>
          <p:cNvSpPr/>
          <p:nvPr/>
        </p:nvSpPr>
        <p:spPr>
          <a:xfrm>
            <a:off x="9212580" y="2290572"/>
            <a:ext cx="1143000" cy="2743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lnSpc>
                <a:spcPct val="145000"/>
              </a:lnSpc>
            </a:pPr>
            <a:r>
              <a:rPr lang="ja-JP" altLang="en-US"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ケンカ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2580" y="2793492"/>
            <a:ext cx="1851660" cy="10058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片方が謝って</a:t>
            </a:r>
          </a:p>
          <a:p>
            <a:pPr algn="l">
              <a:lnSpc>
                <a:spcPct val="140000"/>
              </a:lnSpc>
            </a:pPr>
            <a:r>
              <a:rPr lang="ja-JP" altLang="en-US" sz="19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終わる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12580" y="3845052"/>
            <a:ext cx="1851660" cy="1691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80000"/>
              </a:lnSpc>
            </a:pPr>
            <a:r>
              <a:rPr lang="ja-JP" altLang="en-US" sz="12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今のやり方を変えない。翌日に持ち越さない。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lnSpc>
                <a:spcPct val="145000"/>
              </a:lnSpc>
            </a:pPr>
            <a:r>
              <a:rPr lang="ja-JP" altLang="en-US" sz="900" b="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ふたりの計画のご提案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36047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lnSpc>
                <a:spcPct val="145000"/>
              </a:lnSpc>
            </a:pPr>
            <a:r>
              <a:rPr lang="ja-JP" altLang="en-US" sz="1100" b="0" spc="50">
                <a:solidFill>
                  <a:srgbClr val="A3A3AE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22" name="Shape 2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1248" y="27432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lnSpc>
                <a:spcPct val="150000"/>
              </a:lnSpc>
            </a:pPr>
            <a:r>
              <a:rPr lang="ja-JP" altLang="en-US" sz="4400" b="1">
                <a:solidFill>
                  <a:srgbClr val="14141A"/>
                </a:solidFill>
                <a:latin typeface="Yu Gothic"/>
                <a:ea typeface="Yu Gothic"/>
                <a:cs typeface="Yu Gothic"/>
              </a:rPr>
              <a:t>この紙を、たたき台にしてください。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1248" y="4297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lnSpc>
                <a:spcPct val="160000"/>
              </a:lnSpc>
            </a:pPr>
            <a:r>
              <a:rPr lang="ja-JP" altLang="en-US" sz="1200" b="0">
                <a:solidFill>
                  <a:srgbClr val="6B6B76"/>
                </a:solidFill>
                <a:latin typeface="Yu Gothic"/>
                <a:ea typeface="Yu Gothic"/>
                <a:cs typeface="Yu Gothic"/>
              </a:rPr>
              <a:t>次にこの紙を開くのは、2027年3月。それまでに、赤を入れて返してください。</a:t>
            </a:r>
          </a:p>
        </p:txBody>
      </p:sp>
      <p:sp>
        <p:nvSpPr>
          <p:cNvPr id="4" name="Shap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5025D"/>
          </a:solidFill>
          <a:ln>
            <a:noFill/>
          </a:ln>
        </p:spPr>
        <p:txBody>
          <a:bodyPr wrap="square" lIns="0" tIns="0" rIns="0" bIns="0" anchor="ctr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ck">
  <a:themeElements>
    <a:clrScheme name="Office">
      <a:dk1>
        <a:srgbClr val="000000"/>
      </a:dk1>
      <a:lt1>
        <a:srgbClr val="FFFFFF"/>
      </a:lt1>
      <a:dk2>
        <a:srgbClr val="14141A"/>
      </a:dk2>
      <a:lt2>
        <a:srgbClr val="E7E7EE"/>
      </a:lt2>
      <a:accent1>
        <a:srgbClr val="B5025D"/>
      </a:accent1>
      <a:accent2>
        <a:srgbClr val="6B6B76"/>
      </a:accent2>
      <a:accent3>
        <a:srgbClr val="FFD93D"/>
      </a:accent3>
      <a:accent4>
        <a:srgbClr val="FF5C77"/>
      </a:accent4>
      <a:accent5>
        <a:srgbClr val="A3A3AE"/>
      </a:accent5>
      <a:accent6>
        <a:srgbClr val="FBE9F2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Yu Gothic"/>
        <a:cs typeface="Yu Gothic"/>
        <a:font script="Jpan" typeface="Yu Gothic"/>
      </a:majorFont>
      <a:minorFont>
        <a:latin typeface="Yu Gothic"/>
        <a:ea typeface="Yu Gothic"/>
        <a:cs typeface="Yu Gothic"/>
        <a:font script="Jpan" typeface="Yu Gothi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Office">
      <a:dk1>
        <a:srgbClr val="000000"/>
      </a:dk1>
      <a:lt1>
        <a:srgbClr val="FFFFFF"/>
      </a:lt1>
      <a:dk2>
        <a:srgbClr val="14141A"/>
      </a:dk2>
      <a:lt2>
        <a:srgbClr val="E7E7EE"/>
      </a:lt2>
      <a:accent1>
        <a:srgbClr val="B5025D"/>
      </a:accent1>
      <a:accent2>
        <a:srgbClr val="6B6B76"/>
      </a:accent2>
      <a:accent3>
        <a:srgbClr val="FFD93D"/>
      </a:accent3>
      <a:accent4>
        <a:srgbClr val="FF5C77"/>
      </a:accent4>
      <a:accent5>
        <a:srgbClr val="A3A3AE"/>
      </a:accent5>
      <a:accent6>
        <a:srgbClr val="FBE9F2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Yu Gothic"/>
        <a:cs typeface="Yu Gothic"/>
        <a:font script="Jpan" typeface="Yu Gothic"/>
      </a:majorFont>
      <a:minorFont>
        <a:latin typeface="Yu Gothic"/>
        <a:ea typeface="Yu Gothic"/>
        <a:cs typeface="Yu Gothic"/>
        <a:font script="Jpan" typeface="Yu Gothi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ふたりの計画のご提案</dc:title>
  <dc:creator>大隅絢加</dc:creator>
</cp:coreProperties>
</file>
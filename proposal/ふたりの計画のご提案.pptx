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http://schemas.openxmlformats.org/officeDocument/2006/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1695" cy="6858000"/>
  <p:notesSz cx="6858000" cy="9144000"/>
  <p:defaultTextStyle>
    <a:defPPr>
      <a:defRPr lang="ja-JP"/>
    </a:defPPr>
    <a:lvl1pPr marL="0" algn="l" defTabSz="914400" rtl="0" eaLnBrk="1" latinLnBrk="0" hangingPunct="1">
      <a:defRPr sz="1800" kern="1200">
        <a:solidFill>
          <a:schemeClr val="tx1"/>
        </a:solidFill>
        <a:latin typeface="Yu Gothic"/>
        <a:ea typeface="Yu Gothic"/>
        <a:cs typeface="Yu Gothic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渡すときの一言：「決めてほしいんじゃなくて、直してほしい」。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最初に「決裁じゃない」と言い切る。持ち帰ってもらう前提。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空欄は責めない。「ここ埋めてね」で終える。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「削らない」を先に言うと、あとの「後回し」が我慢じゃなく設計に見える。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指差すのは2028年1〜3月の一か所だけ。「入籍と入居、同じ月」。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今の家が安いのは資産。物件探しまで動かない。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金額はここだけ。ほかのページには置かない。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カンヌは隠さない。「家計に影響しない」の一点だけ伝わればいい。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黄色の行が、彼への一番かんたんな宿題。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「改善中」は正直に。自己PRはしない。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sz="1200"/>
              <a:t>言い終わったら、答えを待たない。持ち帰ってもらう。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凪さん 御中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371600"/>
            <a:ext cx="10515600" cy="393192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05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ふたりの計画の</a:t>
            </a:r>
          </a:p>
          <a:p>
            <a:pPr algn="l">
              <a:lnSpc>
                <a:spcPct val="105000"/>
              </a:lnSpc>
            </a:pPr>
            <a:r>
              <a:rPr lang="ja-JP" altLang="en-US" sz="8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5212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2026 → 2029 のたたき台です。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2026.10 ／ 大隅絢加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はじめに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この資料は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たたき台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です。気になるところは、遠慮なく直してください。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決まっていないことのほうが多いです。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決める期限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だけ、先に置きました。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数字は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私の分だけ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入れています。あなたの分は空欄にしてあります。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半年に一度、一緒に開いて直します。</a:t>
            </a:r>
            <a:r>
              <a:rPr lang="ja-JP" altLang="en-US" sz="20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次は2027年3月</a:t>
            </a:r>
            <a:r>
              <a:rPr lang="ja-JP" altLang="en-US" sz="20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です。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まず、読んで気になったところを教えてください。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いまのふたり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私の分は埋めてあります。あなたの分は、次に会うときに教えてください。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endParaRPr lang="ja-JP" sz="1250"/>
          </a:p>
        </p:txBody>
      </p:sp>
      <p:sp>
        <p:nvSpPr>
          <p:cNvPr id="5" name="TextBox 5"/>
          <p:cNvSpPr txBox="1"/>
          <p:nvPr/>
        </p:nvSpPr>
        <p:spPr>
          <a:xfrm>
            <a:off x="294436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150608" y="172821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370227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38292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年齢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4436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29歳（2026年10月〜）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150608" y="238292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28歳（2026年8月〜）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303255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303763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4436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転職して、新しい会社に入ります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50608" y="303763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自営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68726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69234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94436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今の家に、しばらく住み続けます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150608" y="369234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実家を出て、笹塚でルームシェア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4341977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4347057"/>
            <a:ext cx="197510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これから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4436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30歳のうちに入籍したいです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150608" y="4347057"/>
            <a:ext cx="4078224" cy="65471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教えてください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来年は、ふたりとも環境が変わります。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ゴール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期限を2つと、削らないものを2つ決めました。それ以外は、あとから動かせます。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412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予定は2028年1〜3月です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4988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子ども、一人目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44988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歳のうちに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4988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2029年10月までです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156448" y="2404872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56448" y="2770632"/>
            <a:ext cx="32004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00000"/>
              </a:lnSpc>
            </a:pPr>
            <a:r>
              <a:rPr lang="ja-JP" altLang="en-US" sz="66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</a:t>
            </a:r>
            <a:r>
              <a:rPr lang="ja-JP" altLang="en-US" sz="264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つ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156448" y="3913632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35000"/>
              </a:lnSpc>
            </a:pPr>
            <a:r>
              <a:rPr lang="ja-JP" altLang="en-US" sz="13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写真と、新婚旅行です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式と指輪は後回しにします。2人目は、一旦保留です。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ロードマップ</a:t>
            </a:r>
            <a:r>
              <a:rPr lang="ja-JP" altLang="en-US" sz="1300" b="0" spc="5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　入籍と入居は同じ月、2028年1〜3月を予定しています</a:t>
            </a:r>
          </a:p>
        </p:txBody>
      </p:sp>
      <p:sp>
        <p:nvSpPr>
          <p:cNvPr id="3" name="Shape 3"/>
          <p:cNvSpPr/>
          <p:nvPr/>
        </p:nvSpPr>
        <p:spPr>
          <a:xfrm>
            <a:off x="960120" y="1051560"/>
            <a:ext cx="842865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2026</a:t>
            </a:r>
          </a:p>
        </p:txBody>
      </p:sp>
      <p:sp>
        <p:nvSpPr>
          <p:cNvPr id="4" name="Shape 4"/>
          <p:cNvSpPr/>
          <p:nvPr/>
        </p:nvSpPr>
        <p:spPr>
          <a:xfrm>
            <a:off x="96012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5" name="Shape 5"/>
          <p:cNvSpPr/>
          <p:nvPr/>
        </p:nvSpPr>
        <p:spPr>
          <a:xfrm>
            <a:off x="180298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</a:t>
            </a:r>
          </a:p>
        </p:txBody>
      </p:sp>
      <p:sp>
        <p:nvSpPr>
          <p:cNvPr id="6" name="Shape 6"/>
          <p:cNvSpPr/>
          <p:nvPr/>
        </p:nvSpPr>
        <p:spPr>
          <a:xfrm>
            <a:off x="180298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7" name="Shape 7"/>
          <p:cNvSpPr/>
          <p:nvPr/>
        </p:nvSpPr>
        <p:spPr>
          <a:xfrm>
            <a:off x="264585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8" name="Shape 8"/>
          <p:cNvSpPr/>
          <p:nvPr/>
        </p:nvSpPr>
        <p:spPr>
          <a:xfrm>
            <a:off x="348871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9" name="Shape 9"/>
          <p:cNvSpPr/>
          <p:nvPr/>
        </p:nvSpPr>
        <p:spPr>
          <a:xfrm>
            <a:off x="433158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0" name="Shape 10"/>
          <p:cNvSpPr/>
          <p:nvPr/>
        </p:nvSpPr>
        <p:spPr>
          <a:xfrm>
            <a:off x="517444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</a:t>
            </a:r>
          </a:p>
        </p:txBody>
      </p:sp>
      <p:sp>
        <p:nvSpPr>
          <p:cNvPr id="11" name="Shape 11"/>
          <p:cNvSpPr/>
          <p:nvPr/>
        </p:nvSpPr>
        <p:spPr>
          <a:xfrm>
            <a:off x="517444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2" name="Shape 12"/>
          <p:cNvSpPr/>
          <p:nvPr/>
        </p:nvSpPr>
        <p:spPr>
          <a:xfrm>
            <a:off x="601731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3" name="Shape 13"/>
          <p:cNvSpPr/>
          <p:nvPr/>
        </p:nvSpPr>
        <p:spPr>
          <a:xfrm>
            <a:off x="686017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4" name="Shape 14"/>
          <p:cNvSpPr/>
          <p:nvPr/>
        </p:nvSpPr>
        <p:spPr>
          <a:xfrm>
            <a:off x="770304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15" name="Shape 15"/>
          <p:cNvSpPr/>
          <p:nvPr/>
        </p:nvSpPr>
        <p:spPr>
          <a:xfrm>
            <a:off x="8545905" y="1051560"/>
            <a:ext cx="3371460" cy="310896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2029</a:t>
            </a:r>
          </a:p>
        </p:txBody>
      </p:sp>
      <p:sp>
        <p:nvSpPr>
          <p:cNvPr id="16" name="Shape 16"/>
          <p:cNvSpPr/>
          <p:nvPr/>
        </p:nvSpPr>
        <p:spPr>
          <a:xfrm>
            <a:off x="854590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1-3</a:t>
            </a:r>
          </a:p>
        </p:txBody>
      </p:sp>
      <p:sp>
        <p:nvSpPr>
          <p:cNvPr id="17" name="Shape 17"/>
          <p:cNvSpPr/>
          <p:nvPr/>
        </p:nvSpPr>
        <p:spPr>
          <a:xfrm>
            <a:off x="938877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4-6</a:t>
            </a:r>
          </a:p>
        </p:txBody>
      </p:sp>
      <p:sp>
        <p:nvSpPr>
          <p:cNvPr id="18" name="Shape 18"/>
          <p:cNvSpPr/>
          <p:nvPr/>
        </p:nvSpPr>
        <p:spPr>
          <a:xfrm>
            <a:off x="10231635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7-9</a:t>
            </a:r>
          </a:p>
        </p:txBody>
      </p:sp>
      <p:sp>
        <p:nvSpPr>
          <p:cNvPr id="19" name="Shape 19"/>
          <p:cNvSpPr/>
          <p:nvPr/>
        </p:nvSpPr>
        <p:spPr>
          <a:xfrm>
            <a:off x="11074500" y="1362456"/>
            <a:ext cx="842865" cy="310896"/>
          </a:xfrm>
          <a:prstGeom prst="rect">
            <a:avLst/>
          </a:prstGeom>
          <a:noFill/>
          <a:ln w="9525">
            <a:solidFill>
              <a:srgbClr val="E7E7EE"/>
            </a:solidFill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10-12</a:t>
            </a:r>
          </a:p>
        </p:txBody>
      </p:sp>
      <p:sp>
        <p:nvSpPr>
          <p:cNvPr id="20" name="Shape 20"/>
          <p:cNvSpPr/>
          <p:nvPr/>
        </p:nvSpPr>
        <p:spPr>
          <a:xfrm>
            <a:off x="96012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1" name="Shape 21"/>
          <p:cNvSpPr/>
          <p:nvPr/>
        </p:nvSpPr>
        <p:spPr>
          <a:xfrm>
            <a:off x="180298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2" name="Shape 22"/>
          <p:cNvSpPr/>
          <p:nvPr/>
        </p:nvSpPr>
        <p:spPr>
          <a:xfrm>
            <a:off x="264585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3" name="Shape 23"/>
          <p:cNvSpPr/>
          <p:nvPr/>
        </p:nvSpPr>
        <p:spPr>
          <a:xfrm>
            <a:off x="348871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Shape 24"/>
          <p:cNvSpPr/>
          <p:nvPr/>
        </p:nvSpPr>
        <p:spPr>
          <a:xfrm>
            <a:off x="433158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5" name="Shape 25"/>
          <p:cNvSpPr/>
          <p:nvPr/>
        </p:nvSpPr>
        <p:spPr>
          <a:xfrm>
            <a:off x="517444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6" name="Shape 26"/>
          <p:cNvSpPr/>
          <p:nvPr/>
        </p:nvSpPr>
        <p:spPr>
          <a:xfrm>
            <a:off x="601731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7" name="Shape 27"/>
          <p:cNvSpPr/>
          <p:nvPr/>
        </p:nvSpPr>
        <p:spPr>
          <a:xfrm>
            <a:off x="686017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770304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Shape 29"/>
          <p:cNvSpPr/>
          <p:nvPr/>
        </p:nvSpPr>
        <p:spPr>
          <a:xfrm>
            <a:off x="854590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0" name="Shape 30"/>
          <p:cNvSpPr/>
          <p:nvPr/>
        </p:nvSpPr>
        <p:spPr>
          <a:xfrm>
            <a:off x="938877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1" name="Shape 31"/>
          <p:cNvSpPr/>
          <p:nvPr/>
        </p:nvSpPr>
        <p:spPr>
          <a:xfrm>
            <a:off x="1023163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2" name="Shape 32"/>
          <p:cNvSpPr/>
          <p:nvPr/>
        </p:nvSpPr>
        <p:spPr>
          <a:xfrm>
            <a:off x="11074500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Shape 33"/>
          <p:cNvSpPr/>
          <p:nvPr/>
        </p:nvSpPr>
        <p:spPr>
          <a:xfrm>
            <a:off x="11917365" y="1673352"/>
            <a:ext cx="9525" cy="4087368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4" name="Shape 34"/>
          <p:cNvSpPr/>
          <p:nvPr/>
        </p:nvSpPr>
        <p:spPr>
          <a:xfrm>
            <a:off x="274320" y="2350008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35" name="Shape 35"/>
          <p:cNvSpPr/>
          <p:nvPr/>
        </p:nvSpPr>
        <p:spPr>
          <a:xfrm>
            <a:off x="987552" y="2404872"/>
            <a:ext cx="78800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転職</a:t>
            </a:r>
          </a:p>
        </p:txBody>
      </p:sp>
      <p:sp>
        <p:nvSpPr>
          <p:cNvPr id="36" name="Shape 36"/>
          <p:cNvSpPr/>
          <p:nvPr/>
        </p:nvSpPr>
        <p:spPr>
          <a:xfrm>
            <a:off x="1830417" y="2404872"/>
            <a:ext cx="2473731" cy="314325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5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新しい会社に集中</a:t>
            </a:r>
          </a:p>
        </p:txBody>
      </p:sp>
      <p:sp>
        <p:nvSpPr>
          <p:cNvPr id="37" name="Shape 37"/>
          <p:cNvSpPr/>
          <p:nvPr/>
        </p:nvSpPr>
        <p:spPr>
          <a:xfrm>
            <a:off x="274320" y="2774061"/>
            <a:ext cx="640080" cy="1272159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8" name="Shape 38"/>
          <p:cNvSpPr/>
          <p:nvPr/>
        </p:nvSpPr>
        <p:spPr>
          <a:xfrm>
            <a:off x="987552" y="2828925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彼：ルームシェア（笹塚）</a:t>
            </a:r>
          </a:p>
        </p:txBody>
      </p:sp>
      <p:sp>
        <p:nvSpPr>
          <p:cNvPr id="39" name="Shape 39"/>
          <p:cNvSpPr/>
          <p:nvPr/>
        </p:nvSpPr>
        <p:spPr>
          <a:xfrm>
            <a:off x="5201877" y="2828925"/>
            <a:ext cx="668805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二人の家（子ども前提の広さ）</a:t>
            </a:r>
          </a:p>
        </p:txBody>
      </p:sp>
      <p:sp>
        <p:nvSpPr>
          <p:cNvPr id="40" name="Shape 40"/>
          <p:cNvSpPr/>
          <p:nvPr/>
        </p:nvSpPr>
        <p:spPr>
          <a:xfrm>
            <a:off x="987552" y="3252978"/>
            <a:ext cx="415946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私：今の家</a:t>
            </a:r>
          </a:p>
        </p:txBody>
      </p:sp>
      <p:sp>
        <p:nvSpPr>
          <p:cNvPr id="41" name="Shape 41"/>
          <p:cNvSpPr/>
          <p:nvPr/>
        </p:nvSpPr>
        <p:spPr>
          <a:xfrm>
            <a:off x="1830417" y="3677031"/>
            <a:ext cx="788001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補助の確認</a:t>
            </a:r>
          </a:p>
        </p:txBody>
      </p:sp>
      <p:sp>
        <p:nvSpPr>
          <p:cNvPr id="42" name="Shape 42"/>
          <p:cNvSpPr/>
          <p:nvPr/>
        </p:nvSpPr>
        <p:spPr>
          <a:xfrm>
            <a:off x="3516147" y="3677031"/>
            <a:ext cx="1630866" cy="314325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物件探し</a:t>
            </a:r>
          </a:p>
        </p:txBody>
      </p:sp>
      <p:sp>
        <p:nvSpPr>
          <p:cNvPr id="43" name="Shape 43"/>
          <p:cNvSpPr/>
          <p:nvPr/>
        </p:nvSpPr>
        <p:spPr>
          <a:xfrm>
            <a:off x="274320" y="4046220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節目</a:t>
            </a:r>
          </a:p>
        </p:txBody>
      </p:sp>
      <p:sp>
        <p:nvSpPr>
          <p:cNvPr id="44" name="Shape 44"/>
          <p:cNvSpPr/>
          <p:nvPr/>
        </p:nvSpPr>
        <p:spPr>
          <a:xfrm>
            <a:off x="5201877" y="4101084"/>
            <a:ext cx="788001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入籍→入居</a:t>
            </a:r>
          </a:p>
        </p:txBody>
      </p:sp>
      <p:sp>
        <p:nvSpPr>
          <p:cNvPr id="45" name="Shape 45"/>
          <p:cNvSpPr/>
          <p:nvPr/>
        </p:nvSpPr>
        <p:spPr>
          <a:xfrm>
            <a:off x="6044742" y="4101084"/>
            <a:ext cx="1630866" cy="314325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写真・新婚旅行</a:t>
            </a:r>
          </a:p>
        </p:txBody>
      </p:sp>
      <p:sp>
        <p:nvSpPr>
          <p:cNvPr id="46" name="Shape 46"/>
          <p:cNvSpPr/>
          <p:nvPr/>
        </p:nvSpPr>
        <p:spPr>
          <a:xfrm>
            <a:off x="274320" y="4470273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</a:t>
            </a:r>
          </a:p>
        </p:txBody>
      </p:sp>
      <p:sp>
        <p:nvSpPr>
          <p:cNvPr id="47" name="Shape 47"/>
          <p:cNvSpPr/>
          <p:nvPr/>
        </p:nvSpPr>
        <p:spPr>
          <a:xfrm>
            <a:off x="6887607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93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妊活（半年〜1年）</a:t>
            </a:r>
          </a:p>
        </p:txBody>
      </p:sp>
      <p:sp>
        <p:nvSpPr>
          <p:cNvPr id="48" name="Shape 48"/>
          <p:cNvSpPr/>
          <p:nvPr/>
        </p:nvSpPr>
        <p:spPr>
          <a:xfrm>
            <a:off x="9416202" y="4525137"/>
            <a:ext cx="247373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一人目</a:t>
            </a:r>
          </a:p>
        </p:txBody>
      </p:sp>
      <p:sp>
        <p:nvSpPr>
          <p:cNvPr id="49" name="Shape 49"/>
          <p:cNvSpPr/>
          <p:nvPr/>
        </p:nvSpPr>
        <p:spPr>
          <a:xfrm>
            <a:off x="274320" y="4894326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50" name="Shape 50"/>
          <p:cNvSpPr/>
          <p:nvPr/>
        </p:nvSpPr>
        <p:spPr>
          <a:xfrm>
            <a:off x="6044742" y="4949190"/>
            <a:ext cx="788001" cy="314325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8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カンヌ</a:t>
            </a:r>
          </a:p>
        </p:txBody>
      </p:sp>
      <p:sp>
        <p:nvSpPr>
          <p:cNvPr id="51" name="Shape 51"/>
          <p:cNvSpPr/>
          <p:nvPr/>
        </p:nvSpPr>
        <p:spPr>
          <a:xfrm>
            <a:off x="274320" y="5318379"/>
            <a:ext cx="640080" cy="424053"/>
          </a:xfrm>
          <a:prstGeom prst="rect">
            <a:avLst/>
          </a:prstGeom>
          <a:solidFill>
            <a:srgbClr val="F2F2F6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52" name="Shape 52"/>
          <p:cNvSpPr/>
          <p:nvPr/>
        </p:nvSpPr>
        <p:spPr>
          <a:xfrm>
            <a:off x="8573337" y="5373243"/>
            <a:ext cx="3316596" cy="314325"/>
          </a:xfrm>
          <a:prstGeom prst="rect">
            <a:avLst/>
          </a:prstGeom>
          <a:solidFill>
            <a:srgbClr val="A3A3AE"/>
          </a:solidFill>
          <a:ln>
            <a:noFill/>
          </a:ln>
        </p:spPr>
        <p:txBody>
          <a:bodyPr wrap="square" lIns="0" tIns="0" rIns="0" bIns="0" anchor="ctr" rtlCol="0"/>
          <a:lstStyle/>
          <a:p>
            <a:pPr algn="ctr">
              <a:lnSpc>
                <a:spcPct val="145000"/>
              </a:lnSpc>
            </a:pPr>
            <a:r>
              <a:rPr lang="ja-JP" altLang="en-US" sz="108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式・指輪（時期未定）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15295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287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ご提案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52441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88433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30歳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5367277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727197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入籍・入居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1267332" y="1709928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45000"/>
              </a:lnSpc>
            </a:pPr>
            <a:r>
              <a:rPr lang="ja-JP" altLang="en-US" sz="1500" b="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★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0627252" y="20025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ctr">
              <a:lnSpc>
                <a:spcPct val="125000"/>
              </a:lnSpc>
            </a:pPr>
            <a:r>
              <a:rPr lang="ja-JP" altLang="en-US" sz="80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32歳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4320" y="58978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950" b="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*時期はすべて目安です。半年ごとに引き直します。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住まい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入籍と入居は同じ月にします。家は</a:t>
            </a:r>
            <a:r>
              <a:rPr lang="ja-JP" altLang="en-US" sz="2200" b="0">
                <a:solidFill>
                  <a:srgbClr val="14141A"/>
                </a:solidFill>
                <a:highlight>
                  <a:srgbClr val="FFD93D"/>
                </a:highlight>
                <a:latin typeface="Yu Gothic Medium"/>
                <a:ea typeface="Yu Gothic Medium"/>
                <a:cs typeface="Yu Gothic Medium"/>
              </a:rPr>
              <a:t>子ども前提の広さ</a:t>
            </a: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にして、引っ越しは1回です。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物件を探します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子ども前提の広さで探します。名義は私（世帯主）にして、補助の型に合わせます。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2028年1〜3月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入籍して、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入居します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入籍が先、入居が後。同じ月の中で済ませます。彼のルームシェアは中途解約になります。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補助の型で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変わること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手当型なら私名義で家賃15〜16万が目安。借り上げ社宅なら会社契約で、審査はありません。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どちらでも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引っ越しは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1回にします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子どもが来ても住み替えない広さにします。補助は、一番長く住む家に使います。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引っ越しは、2028年の1回だけです。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生活費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二人の財布はひとつにして、見える化します。削らないものだけ、先に決めます。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家賃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月15〜20万を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折半します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私の分は上限10万です。名義は私で、共同口座から引き落とします。20万なら入籍後に収入を合算します。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共同口座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お金はぜんぶ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ここからです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私名義で、入居と同時に開設します。年に1回だけ棚卸しをします。お小遣いには干渉しません。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削らないもの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写真と、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新婚旅行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収入が増える分から、月に決めた額を積み立てます。出産の費用もここから出します。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後回し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式と、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指輪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時期も規模も、まだ決めません。決めたくなったら、そのとき決めます。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お金の話は、このページで全部です。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私のお金のこと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私の側の事情を、先にお伝えします。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984248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527048" y="1892808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95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転職で、年収は</a:t>
            </a:r>
            <a:r>
              <a:rPr lang="ja-JP" altLang="en-US" sz="195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100万円くらい上がる</a:t>
            </a:r>
            <a:r>
              <a:rPr lang="ja-JP" altLang="en-US" sz="195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予定です。増えた分を、この計画の原資にします。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3044952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27048" y="2953512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6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貯金の代わりに、</a:t>
            </a:r>
            <a:r>
              <a:rPr lang="ja-JP" altLang="en-US" sz="186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NISAでコツコツ</a:t>
            </a:r>
            <a:r>
              <a:rPr lang="ja-JP" altLang="en-US" sz="186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積み立てています（225万円分）。これは崩しません。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41248" y="4105656"/>
            <a:ext cx="64008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500" b="1" spc="10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27048" y="4014216"/>
            <a:ext cx="978408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2028年6月の</a:t>
            </a:r>
            <a:r>
              <a:rPr lang="ja-JP" altLang="en-US" sz="182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カンヌ</a:t>
            </a:r>
            <a:r>
              <a:rPr lang="ja-JP" altLang="en-US" sz="182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は仕事です。費用は私側（会社負担を含む）で、家計からは出しません。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家計に影響するものは、ありません。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まだ決まっていないことを、期限つきで並べました。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1728216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決めること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42048" y="1728216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いつまで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28048" y="1728216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45000"/>
              </a:lnSpc>
            </a:pPr>
            <a:r>
              <a:rPr lang="ja-JP" altLang="en-US" sz="1250" b="1" spc="100">
                <a:solidFill>
                  <a:srgbClr val="6B6B76"/>
                </a:solidFill>
                <a:latin typeface="Yu Gothic"/>
                <a:ea typeface="Yu Gothic"/>
                <a:cs typeface="Yu Gothic"/>
              </a:rPr>
              <a:t>だれが</a:t>
            </a:r>
          </a:p>
        </p:txBody>
      </p:sp>
      <p:sp>
        <p:nvSpPr>
          <p:cNvPr id="7" name="Shape 7"/>
          <p:cNvSpPr/>
          <p:nvPr/>
        </p:nvSpPr>
        <p:spPr>
          <a:xfrm>
            <a:off x="841248" y="2256155"/>
            <a:ext cx="10515600" cy="25400"/>
          </a:xfrm>
          <a:prstGeom prst="rect">
            <a:avLst/>
          </a:prstGeom>
          <a:solidFill>
            <a:srgbClr val="14141A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8" name="TextBox 8"/>
          <p:cNvSpPr txBox="1"/>
          <p:nvPr/>
        </p:nvSpPr>
        <p:spPr>
          <a:xfrm>
            <a:off x="841248" y="2268855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家賃補助の型・上限・同居人の条件・回数・退職時の扱い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242048" y="2268855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入社後すぐ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528048" y="2268855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1" name="Shape 11"/>
          <p:cNvSpPr/>
          <p:nvPr/>
        </p:nvSpPr>
        <p:spPr>
          <a:xfrm>
            <a:off x="841248" y="2804414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2" name="TextBox 12"/>
          <p:cNvSpPr txBox="1"/>
          <p:nvPr/>
        </p:nvSpPr>
        <p:spPr>
          <a:xfrm>
            <a:off x="841248" y="2809494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給与の形（賞与の有無）を見て、家賃の負担額を確定する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242048" y="2809494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2027年1月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28048" y="2809494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私</a:t>
            </a:r>
          </a:p>
        </p:txBody>
      </p:sp>
      <p:sp>
        <p:nvSpPr>
          <p:cNvPr id="15" name="Shape 15"/>
          <p:cNvSpPr/>
          <p:nvPr/>
        </p:nvSpPr>
        <p:spPr>
          <a:xfrm>
            <a:off x="841248" y="3345053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6" name="TextBox 16"/>
          <p:cNvSpPr txBox="1"/>
          <p:nvPr/>
        </p:nvSpPr>
        <p:spPr>
          <a:xfrm>
            <a:off x="841248" y="3350133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ルームシェアの契約期間と、解約の条件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242048" y="3350133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契約前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8048" y="3350133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19" name="Shape 19"/>
          <p:cNvSpPr/>
          <p:nvPr/>
        </p:nvSpPr>
        <p:spPr>
          <a:xfrm>
            <a:off x="841248" y="3885692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0" name="TextBox 20"/>
          <p:cNvSpPr txBox="1"/>
          <p:nvPr/>
        </p:nvSpPr>
        <p:spPr>
          <a:xfrm>
            <a:off x="841248" y="3890772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入籍と入居を、何月にするか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42048" y="3890772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528048" y="3890772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23" name="Shape 23"/>
          <p:cNvSpPr/>
          <p:nvPr/>
        </p:nvSpPr>
        <p:spPr>
          <a:xfrm>
            <a:off x="841248" y="4426331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4" name="TextBox 24"/>
          <p:cNvSpPr txBox="1"/>
          <p:nvPr/>
        </p:nvSpPr>
        <p:spPr>
          <a:xfrm>
            <a:off x="841248" y="4431411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収入合算が必要なら、確定申告書2〜3期分を用意する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242048" y="4431411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2027年後半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28048" y="4431411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27" name="Shape 27"/>
          <p:cNvSpPr/>
          <p:nvPr/>
        </p:nvSpPr>
        <p:spPr>
          <a:xfrm>
            <a:off x="841248" y="4966970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8" name="Shape 28"/>
          <p:cNvSpPr/>
          <p:nvPr/>
        </p:nvSpPr>
        <p:spPr>
          <a:xfrm>
            <a:off x="841248" y="4972050"/>
            <a:ext cx="10515600" cy="540639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29" name="TextBox 29"/>
          <p:cNvSpPr txBox="1"/>
          <p:nvPr/>
        </p:nvSpPr>
        <p:spPr>
          <a:xfrm>
            <a:off x="932688" y="4972050"/>
            <a:ext cx="6181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あなたの分の空欄を埋める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33488" y="4972050"/>
            <a:ext cx="20665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次に会うとき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19488" y="4972050"/>
            <a:ext cx="160934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凪</a:t>
            </a:r>
          </a:p>
        </p:txBody>
      </p:sp>
      <p:sp>
        <p:nvSpPr>
          <p:cNvPr id="32" name="Shape 32"/>
          <p:cNvSpPr/>
          <p:nvPr/>
        </p:nvSpPr>
        <p:spPr>
          <a:xfrm>
            <a:off x="841248" y="5507609"/>
            <a:ext cx="10515600" cy="9525"/>
          </a:xfrm>
          <a:prstGeom prst="rect">
            <a:avLst/>
          </a:prstGeom>
          <a:solidFill>
            <a:srgbClr val="E7E7EE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33" name="TextBox 33"/>
          <p:cNvSpPr txBox="1"/>
          <p:nvPr/>
        </p:nvSpPr>
        <p:spPr>
          <a:xfrm>
            <a:off x="841248" y="5512689"/>
            <a:ext cx="6272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2人目をどうするか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242048" y="5512689"/>
            <a:ext cx="21579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一人目のあと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528048" y="5512689"/>
            <a:ext cx="1700784" cy="540639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30000"/>
              </a:lnSpc>
            </a:pPr>
            <a:r>
              <a:rPr lang="ja-JP" altLang="en-US" sz="15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ふたり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155448"/>
            <a:ext cx="10515600" cy="329184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3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約束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585216"/>
            <a:ext cx="1051560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0000"/>
              </a:lnSpc>
            </a:pPr>
            <a:r>
              <a:rPr lang="ja-JP" altLang="en-US" sz="22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私の側から先に書きます。変えないことと、直すことに分けました。</a:t>
            </a:r>
          </a:p>
        </p:txBody>
      </p:sp>
      <p:sp>
        <p:nvSpPr>
          <p:cNvPr id="4" name="Shape 4"/>
          <p:cNvSpPr/>
          <p:nvPr/>
        </p:nvSpPr>
        <p:spPr>
          <a:xfrm>
            <a:off x="841248" y="1773936"/>
            <a:ext cx="2320290" cy="38100"/>
          </a:xfrm>
          <a:prstGeom prst="rect">
            <a:avLst/>
          </a:prstGeom>
          <a:solidFill>
            <a:srgbClr val="00C4B3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5" name="TextBox 5"/>
          <p:cNvSpPr txBox="1"/>
          <p:nvPr/>
        </p:nvSpPr>
        <p:spPr>
          <a:xfrm>
            <a:off x="84124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00C4B3"/>
                </a:solidFill>
                <a:latin typeface="Yu Gothic"/>
                <a:ea typeface="Yu Gothic"/>
                <a:cs typeface="Yu Gothic"/>
              </a:rPr>
              <a:t>仕事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84124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熱量は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落としません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4124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30歳まではお互い仕事優先です。結婚が仕事の邪魔をしない形にします。</a:t>
            </a:r>
          </a:p>
        </p:txBody>
      </p:sp>
      <p:sp>
        <p:nvSpPr>
          <p:cNvPr id="8" name="Shape 8"/>
          <p:cNvSpPr/>
          <p:nvPr/>
        </p:nvSpPr>
        <p:spPr>
          <a:xfrm>
            <a:off x="3573018" y="1773936"/>
            <a:ext cx="2320290" cy="38100"/>
          </a:xfrm>
          <a:prstGeom prst="rect">
            <a:avLst/>
          </a:prstGeom>
          <a:solidFill>
            <a:srgbClr val="FFD93D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9" name="TextBox 9"/>
          <p:cNvSpPr txBox="1"/>
          <p:nvPr/>
        </p:nvSpPr>
        <p:spPr>
          <a:xfrm>
            <a:off x="357301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自由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57301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ひとりの時間は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制度で守ります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57301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二人の家に自室を持ちます。週に一度は別行動でかまいません。</a:t>
            </a:r>
          </a:p>
        </p:txBody>
      </p:sp>
      <p:sp>
        <p:nvSpPr>
          <p:cNvPr id="12" name="Shape 12"/>
          <p:cNvSpPr/>
          <p:nvPr/>
        </p:nvSpPr>
        <p:spPr>
          <a:xfrm>
            <a:off x="6304788" y="1773936"/>
            <a:ext cx="2320290" cy="38100"/>
          </a:xfrm>
          <a:prstGeom prst="rect">
            <a:avLst/>
          </a:prstGeom>
          <a:solidFill>
            <a:srgbClr val="FF5C7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3" name="TextBox 13"/>
          <p:cNvSpPr txBox="1"/>
          <p:nvPr/>
        </p:nvSpPr>
        <p:spPr>
          <a:xfrm>
            <a:off x="630478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FF5C77"/>
                </a:solidFill>
                <a:latin typeface="Yu Gothic"/>
                <a:ea typeface="Yu Gothic"/>
                <a:cs typeface="Yu Gothic"/>
              </a:rPr>
              <a:t>家事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30478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掃除は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改善中です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0478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得意なほうがやります。決まらないものは、外注も選択肢に入れます。</a:t>
            </a:r>
          </a:p>
        </p:txBody>
      </p:sp>
      <p:sp>
        <p:nvSpPr>
          <p:cNvPr id="16" name="Shape 16"/>
          <p:cNvSpPr/>
          <p:nvPr/>
        </p:nvSpPr>
        <p:spPr>
          <a:xfrm>
            <a:off x="9036558" y="1773936"/>
            <a:ext cx="2320290" cy="38100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txBody>
          <a:bodyPr wrap="square" lIns="0" tIns="0" rIns="0" bIns="0" anchor="ctr" rtlCol="0"/>
          <a:lstStyle/>
          <a:p/>
        </p:txBody>
      </p:sp>
      <p:sp>
        <p:nvSpPr>
          <p:cNvPr id="17" name="TextBox 17"/>
          <p:cNvSpPr txBox="1"/>
          <p:nvPr/>
        </p:nvSpPr>
        <p:spPr>
          <a:xfrm>
            <a:off x="9036558" y="2002536"/>
            <a:ext cx="2320290" cy="3200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200" b="1" spc="120">
                <a:solidFill>
                  <a:srgbClr val="6C5CE7"/>
                </a:solidFill>
                <a:latin typeface="Yu Gothic"/>
                <a:ea typeface="Yu Gothic"/>
                <a:cs typeface="Yu Gothic"/>
              </a:rPr>
              <a:t>ケンカ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036558" y="2414016"/>
            <a:ext cx="2320290" cy="100584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片方が謝って</a:t>
            </a:r>
          </a:p>
          <a:p>
            <a:pPr algn="l">
              <a:lnSpc>
                <a:spcPct val="125000"/>
              </a:lnSpc>
            </a:pPr>
            <a:r>
              <a:rPr lang="ja-JP" altLang="en-US" sz="22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終わります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036558" y="3511296"/>
            <a:ext cx="2320290" cy="1444752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55000"/>
              </a:lnSpc>
            </a:pPr>
            <a:r>
              <a:rPr lang="ja-JP" altLang="en-US" sz="1400" b="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今のやり方を変えません。翌日には持ち越しません。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41248" y="5138928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b" rtlCol="0"/>
          <a:lstStyle/>
          <a:p>
            <a:pPr algn="l">
              <a:lnSpc>
                <a:spcPct val="125000"/>
              </a:lnSpc>
            </a:pPr>
            <a:r>
              <a:rPr lang="ja-JP" altLang="en-US" sz="280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変えないのは仕事、直すのは家事です。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41248" y="639165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000" b="0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ふたりの計画のご提案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436047" y="6373368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r">
              <a:lnSpc>
                <a:spcPct val="145000"/>
              </a:lnSpc>
            </a:pPr>
            <a:r>
              <a:rPr lang="ja-JP" altLang="en-US" sz="1200" b="1" spc="50">
                <a:solidFill>
                  <a:srgbClr val="A3A3A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9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841248" y="64008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400" b="1" spc="150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おわりに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841248" y="1828800"/>
            <a:ext cx="10515600" cy="2743200"/>
          </a:xfrm>
          <a:prstGeom prst="rect">
            <a:avLst/>
          </a:prstGeom>
          <a:noFill/>
        </p:spPr>
        <p:txBody>
          <a:bodyPr wrap="square" lIns="0" tIns="0" rIns="0" bIns="0" anchor="ctr" rtlCol="0"/>
          <a:lstStyle/>
          <a:p>
            <a:pPr algn="l">
              <a:lnSpc>
                <a:spcPct val="112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この資料を、</a:t>
            </a:r>
          </a:p>
          <a:p>
            <a:pPr algn="l">
              <a:lnSpc>
                <a:spcPct val="112000"/>
              </a:lnSpc>
            </a:pPr>
            <a:r>
              <a:rPr lang="ja-JP" altLang="en-US" sz="5330" b="1">
                <a:solidFill>
                  <a:srgbClr val="14141A"/>
                </a:solidFill>
                <a:latin typeface="Yu Gothic"/>
                <a:ea typeface="Yu Gothic"/>
                <a:cs typeface="Yu Gothic"/>
              </a:rPr>
              <a:t>たたき台にしてください。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41248" y="475488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 rtlCol="0"/>
          <a:lstStyle/>
          <a:p>
            <a:pPr algn="l">
              <a:lnSpc>
                <a:spcPct val="145000"/>
              </a:lnSpc>
            </a:pPr>
            <a:r>
              <a:rPr lang="ja-JP" altLang="en-US" sz="1800" b="0">
                <a:solidFill>
                  <a:srgbClr val="14141A"/>
                </a:solidFill>
                <a:latin typeface="Yu Gothic Medium"/>
                <a:ea typeface="Yu Gothic Medium"/>
                <a:cs typeface="Yu Gothic Medium"/>
              </a:rPr>
              <a:t>次に開くのは2027年3月です。それまでに、気になるところを直して返してください。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Office">
      <a:dk1>
        <a:srgbClr val="000000"/>
      </a:dk1>
      <a:lt1>
        <a:srgbClr val="FFFFFF"/>
      </a:lt1>
      <a:dk2>
        <a:srgbClr val="14141A"/>
      </a:dk2>
      <a:lt2>
        <a:srgbClr val="E7E7EE"/>
      </a:lt2>
      <a:accent1>
        <a:srgbClr val="B5025D"/>
      </a:accent1>
      <a:accent2>
        <a:srgbClr val="6B6B76"/>
      </a:accent2>
      <a:accent3>
        <a:srgbClr val="FFD93D"/>
      </a:accent3>
      <a:accent4>
        <a:srgbClr val="FF5C77"/>
      </a:accent4>
      <a:accent5>
        <a:srgbClr val="A3A3AE"/>
      </a:accent5>
      <a:accent6>
        <a:srgbClr val="FBE9F2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Yu Gothic"/>
        <a:cs typeface="Yu Gothic"/>
        <a:font script="Jpan" typeface="Yu Gothic"/>
      </a:majorFont>
      <a:minorFont>
        <a:latin typeface="Yu Gothic"/>
        <a:ea typeface="Yu Gothic"/>
        <a:cs typeface="Yu Gothic"/>
        <a:font script="Jpan" typeface="Yu Gothi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ふたりの計画の
ご提案</dc:title>
  <dc:creator>大隅絢加</dc:creator>
</cp:coreProperties>
</file>
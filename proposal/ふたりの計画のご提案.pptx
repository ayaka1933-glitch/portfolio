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ここから5枚、テンポよくめくる。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真顔で言う。「私調べ」まで言い切ると笑いになる。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ここで笑わせて、次の「お互いについて」に渡す。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ここが一番の持ちネタ。言ったあと、黙って次をめくる。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ここから3枚。テンポは私の魅力と同じで。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ここだけ主観、と言い添える。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/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ここで空気を切り替えて、ゴールのページへ渡す。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条件は3つだけ。増やすと物件が無くなる。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「譲れない」を増やすと物件が消える。今の数でちょうどいい。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「足りない方が悪い」にしないのが、この図の目的。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C9184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1371600"/>
            <a:ext cx="786384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8000"/>
              </a:lnSpc>
            </a:pPr>
            <a:r>
              <a:rPr lang="ja-JP" altLang="en-US" sz="800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ふたりの計画の</a:t>
            </a:r>
          </a:p>
          <a:p>
            <a:pPr algn="l">
              <a:lnSpc>
                <a:spcPct val="108000"/>
              </a:lnSpc>
            </a:pPr>
            <a:r>
              <a:rPr lang="ja-JP" altLang="en-US" sz="800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ご提案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2120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2026 → 2029 のたたき台です。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EFA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E57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私の魅力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自分で言うのもなんですが、6つあります。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顔面偏差値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まあまあ高いと思っています。（私調べ）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自立している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仕事に人生をかけているので、将来の安定性もあります。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気がラク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性格もそこそこ悪くないです。「家で二人でご飯」を強要しません。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人脈がある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凪さんの仕事のビジネスマッチングも、できると思います。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伸びしろがある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柔軟性があります。片付けも掃除も、少しずつ対応中です。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私の魅力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飽きない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こんな資料を作ってくる女、ほかにいましたか？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5C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BAC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3A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FFFFFF"/>
                </a:solidFill>
                <a:latin typeface="Hiragino Maru Gothic ProN"/>
                <a:ea typeface="Hiragino Maru Gothic ProN"/>
                <a:cs typeface="Hiragino Maru Gothic ProN"/>
              </a:rPr>
              <a:t>お互いについて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ふたりで見たときの話も、3つあります。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相性がいい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昼も夜も、悪くないはずです。たぶん、きっと。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直そうとする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自分のよくないところを、言われる前に直そうとする人同士です。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お互いについて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2514600"/>
            <a:ext cx="2103120" cy="237744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0000"/>
              </a:lnSpc>
            </a:pPr>
            <a:r>
              <a:rPr lang="ja-JP" altLang="en-US" sz="13200" b="1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944368" y="2514600"/>
            <a:ext cx="840607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まわりも公認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944368" y="4131259"/>
            <a:ext cx="840607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お互いの友人にも会っていて、印象も悪くないはずです。たぶん。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93E6DF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56D8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2514600"/>
            <a:ext cx="10509199" cy="1474012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14999"/>
              </a:lnSpc>
            </a:pPr>
            <a:r>
              <a:rPr lang="ja-JP" altLang="en-US" sz="6400" b="1">
                <a:solidFill>
                  <a:srgbClr val="FFFFFF"/>
                </a:solidFill>
                <a:latin typeface="Hiragino Maru Gothic ProN"/>
                <a:ea typeface="Hiragino Maru Gothic ProN"/>
                <a:cs typeface="Hiragino Maru Gothic ProN"/>
              </a:rPr>
              <a:t>だから、大丈夫です。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131259"/>
            <a:ext cx="10509199" cy="808329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8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一緒に暮らしても、たぶん。ここから先は、その計画の話です。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で探します。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手当型だと私名義で通るのは15〜16万まで。20万を超えるなら入籍後の収入合算か、借り上げ社宅が要ります。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とはいえ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住み替えるかも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しれません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子どもの人数や暮らし方で、また動く可能性はあります。そのときは、そのとき決めます。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まずは、引っ越しが1回で済む家を探します。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家の条件①｜エリア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住むのは都内。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ふたりとも通勤30〜60分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の範囲から選びます。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1389888" y="1901952"/>
            <a:ext cx="3566160" cy="3566160"/>
          </a:xfrm>
          <a:prstGeom prst="ellipse">
            <a:avLst/>
          </a:prstGeom>
          <a:solidFill>
            <a:srgbClr val="E6F7F5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1389888" y="2048256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通勤60分</a:t>
            </a:r>
          </a:p>
        </p:txBody>
      </p:sp>
      <p:sp>
        <p:nvSpPr>
          <p:cNvPr id="6" name="Shape 6"/>
          <p:cNvSpPr/>
          <p:nvPr/>
        </p:nvSpPr>
        <p:spPr>
          <a:xfrm>
            <a:off x="2138782" y="2650846"/>
            <a:ext cx="2068372" cy="2068372"/>
          </a:xfrm>
          <a:prstGeom prst="ellipse">
            <a:avLst/>
          </a:prstGeom>
          <a:solidFill>
            <a:srgbClr val="FFF6CC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2138782" y="2797150"/>
            <a:ext cx="2068372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3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通勤30分</a:t>
            </a:r>
          </a:p>
        </p:txBody>
      </p:sp>
      <p:sp>
        <p:nvSpPr>
          <p:cNvPr id="8" name="Shape 8"/>
          <p:cNvSpPr/>
          <p:nvPr/>
        </p:nvSpPr>
        <p:spPr>
          <a:xfrm>
            <a:off x="2624328" y="3136392"/>
            <a:ext cx="1097280" cy="1097280"/>
          </a:xfrm>
          <a:prstGeom prst="ellipse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3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都内</a:t>
            </a:r>
          </a:p>
        </p:txBody>
      </p:sp>
      <p:sp>
        <p:nvSpPr>
          <p:cNvPr id="9" name="Shape 9"/>
          <p:cNvSpPr/>
          <p:nvPr/>
        </p:nvSpPr>
        <p:spPr>
          <a:xfrm>
            <a:off x="5961888" y="2551176"/>
            <a:ext cx="146304" cy="146304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27648" y="2423160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ふたりとも通勤30〜60分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327648" y="2825496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どちらかだけが遠い、をつくらない範囲で探します。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5961888" y="3392424"/>
            <a:ext cx="146304" cy="146304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27648" y="3264408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駅から徒歩10分以内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27648" y="3666744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表示ではなく、実際に歩いた時間で見ます。</a:t>
            </a:r>
          </a:p>
        </p:txBody>
      </p:sp>
      <p:sp>
        <p:nvSpPr>
          <p:cNvPr id="15" name="Shape 15"/>
          <p:cNvSpPr/>
          <p:nvPr/>
        </p:nvSpPr>
        <p:spPr>
          <a:xfrm>
            <a:off x="5961888" y="4233672"/>
            <a:ext cx="146304" cy="146304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6327648" y="4105656"/>
            <a:ext cx="5022799" cy="38404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エリアは、こだわりません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327648" y="4507992"/>
            <a:ext cx="5022799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この円の中なら、どこでもかまいません。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1248" y="582472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※今の家は「徒歩8分」表示ですが、実際は12分ほどかかります。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家の条件②｜物件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譲れないものと、あると嬉しいものを分けました。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487168" y="17282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条件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070848" y="17282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優先度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172716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1854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間取り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487168" y="21854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2LDK。ドラム式の洗濯機が置けること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070848" y="21854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譲れない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637536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6426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設備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87168" y="26426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独立洗面台、浴室乾燥、モニター付きインターホン、エアコン設置済み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070848" y="26426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譲れない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094736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0998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建物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487168" y="30998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築20年前後、オートロック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70848" y="30998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譲れない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551936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5570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建物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87168" y="35570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宅配ボックス、24時間ゴミ出し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070848" y="35570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あると嬉しい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009136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0142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487168" y="40142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ひとり10〜12万円（ふたりで20〜24万円）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070848" y="40142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上限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466336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TextBox 28"/>
          <p:cNvSpPr txBox="1"/>
          <p:nvPr/>
        </p:nvSpPr>
        <p:spPr>
          <a:xfrm>
            <a:off x="841248" y="4471416"/>
            <a:ext cx="151790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487168" y="4471416"/>
            <a:ext cx="645566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保育園や小児科の距離は、一旦保留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70848" y="4471416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あとで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41248" y="511149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※広さそのものへのこだわりはありません。設備と場所を優先します。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決まっているのはここまでです。残りは、見ながら足します。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ふたりで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月20〜24万まで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ひとり10〜12万が目安です。割合は固定せず、半年ごとに決めます。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いくらずつ出すかは、次のページで決めます。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生活費の決め方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負担の割合は、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半年ごと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に決め直します。お金で足りない分は、家事で補います。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半年に一度</a:t>
            </a:r>
          </a:p>
        </p:txBody>
      </p:sp>
      <p:sp>
        <p:nvSpPr>
          <p:cNvPr id="5" name="Shape 5"/>
          <p:cNvSpPr/>
          <p:nvPr/>
        </p:nvSpPr>
        <p:spPr>
          <a:xfrm>
            <a:off x="841248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お互いの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月収を見る</a:t>
            </a:r>
          </a:p>
        </p:txBody>
      </p:sp>
      <p:sp>
        <p:nvSpPr>
          <p:cNvPr id="6" name="Shape 6"/>
          <p:cNvSpPr/>
          <p:nvPr/>
        </p:nvSpPr>
        <p:spPr>
          <a:xfrm>
            <a:off x="3172968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TextBox 7"/>
          <p:cNvSpPr txBox="1"/>
          <p:nvPr/>
        </p:nvSpPr>
        <p:spPr>
          <a:xfrm>
            <a:off x="3611880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そのつど</a:t>
            </a:r>
          </a:p>
        </p:txBody>
      </p:sp>
      <p:sp>
        <p:nvSpPr>
          <p:cNvPr id="8" name="Shape 8"/>
          <p:cNvSpPr/>
          <p:nvPr/>
        </p:nvSpPr>
        <p:spPr>
          <a:xfrm>
            <a:off x="3611880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負担の割合を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</a:t>
            </a:r>
          </a:p>
        </p:txBody>
      </p:sp>
      <p:sp>
        <p:nvSpPr>
          <p:cNvPr id="9" name="Shape 9"/>
          <p:cNvSpPr/>
          <p:nvPr/>
        </p:nvSpPr>
        <p:spPr>
          <a:xfrm>
            <a:off x="5943600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TextBox 10"/>
          <p:cNvSpPr txBox="1"/>
          <p:nvPr/>
        </p:nvSpPr>
        <p:spPr>
          <a:xfrm>
            <a:off x="6382512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足りないときは</a:t>
            </a:r>
          </a:p>
        </p:txBody>
      </p:sp>
      <p:sp>
        <p:nvSpPr>
          <p:cNvPr id="11" name="Shape 11"/>
          <p:cNvSpPr/>
          <p:nvPr/>
        </p:nvSpPr>
        <p:spPr>
          <a:xfrm>
            <a:off x="6382512" y="2336292"/>
            <a:ext cx="2203704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4141A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家事で</a:t>
            </a:r>
          </a:p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補う</a:t>
            </a:r>
          </a:p>
        </p:txBody>
      </p:sp>
      <p:sp>
        <p:nvSpPr>
          <p:cNvPr id="12" name="Shape 12"/>
          <p:cNvSpPr/>
          <p:nvPr/>
        </p:nvSpPr>
        <p:spPr>
          <a:xfrm>
            <a:off x="8714232" y="3067812"/>
            <a:ext cx="310896" cy="137160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9153144" y="1924812"/>
            <a:ext cx="2203704" cy="310896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 spc="8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妊娠・出産後は</a:t>
            </a:r>
          </a:p>
        </p:txBody>
      </p:sp>
      <p:sp>
        <p:nvSpPr>
          <p:cNvPr id="14" name="Shape 14"/>
          <p:cNvSpPr/>
          <p:nvPr/>
        </p:nvSpPr>
        <p:spPr>
          <a:xfrm>
            <a:off x="9153144" y="2336292"/>
            <a:ext cx="2203704" cy="16002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30000"/>
              </a:lnSpc>
            </a:pPr>
            <a:r>
              <a:rPr lang="ja-JP" altLang="en-US" sz="21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要相談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1248" y="47731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1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※収入が上下する前提で組みます。どちらかが減っても、責める話にしません。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お金で無理をせず、手を動かすほうで調整します。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収入は増える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NISAで積み立て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ています。有給消化の旅行などで、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使う可能性もあります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収入合算が必要なら、確定申告書1〜2年分と納税証明書を用意する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130323" y="160020"/>
            <a:ext cx="1051560" cy="1051560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" name="Shape 3"/>
          <p:cNvSpPr/>
          <p:nvPr/>
        </p:nvSpPr>
        <p:spPr>
          <a:xfrm>
            <a:off x="10445227" y="1773936"/>
            <a:ext cx="566928" cy="56692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4" name="Shape 4"/>
          <p:cNvSpPr/>
          <p:nvPr/>
        </p:nvSpPr>
        <p:spPr>
          <a:xfrm>
            <a:off x="9210815" y="3214116"/>
            <a:ext cx="841248" cy="841248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Shape 5"/>
          <p:cNvSpPr/>
          <p:nvPr/>
        </p:nvSpPr>
        <p:spPr>
          <a:xfrm>
            <a:off x="11240737" y="4649724"/>
            <a:ext cx="438912" cy="43891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6" name="Shape 6"/>
          <p:cNvSpPr/>
          <p:nvPr/>
        </p:nvSpPr>
        <p:spPr>
          <a:xfrm>
            <a:off x="7622849" y="5116068"/>
            <a:ext cx="603504" cy="603504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7" name="Shape 7"/>
          <p:cNvSpPr/>
          <p:nvPr/>
        </p:nvSpPr>
        <p:spPr>
          <a:xfrm>
            <a:off x="281927" y="205740"/>
            <a:ext cx="411480" cy="411480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Shape 8"/>
          <p:cNvSpPr/>
          <p:nvPr/>
        </p:nvSpPr>
        <p:spPr>
          <a:xfrm>
            <a:off x="1700738" y="77724"/>
            <a:ext cx="256032" cy="256032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Shape 9"/>
          <p:cNvSpPr/>
          <p:nvPr/>
        </p:nvSpPr>
        <p:spPr>
          <a:xfrm>
            <a:off x="36566" y="3922776"/>
            <a:ext cx="658368" cy="658368"/>
          </a:xfrm>
          <a:prstGeom prst="heart">
            <a:avLst/>
          </a:prstGeom>
          <a:solidFill>
            <a:srgbClr val="FFC1CB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0" name="Shape 10"/>
          <p:cNvSpPr/>
          <p:nvPr/>
        </p:nvSpPr>
        <p:spPr>
          <a:xfrm>
            <a:off x="5199753" y="6281928"/>
            <a:ext cx="329184" cy="329184"/>
          </a:xfrm>
          <a:prstGeom prst="heart">
            <a:avLst/>
          </a:prstGeom>
          <a:solidFill>
            <a:srgbClr val="FF99A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1" name="TextBox 11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C9184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1248" y="1828800"/>
            <a:ext cx="859536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4999"/>
              </a:lnSpc>
            </a:pPr>
            <a:r>
              <a:rPr lang="ja-JP" altLang="en-US" sz="533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この資料を、</a:t>
            </a:r>
          </a:p>
          <a:p>
            <a:pPr algn="l">
              <a:lnSpc>
                <a:spcPct val="114999"/>
              </a:lnSpc>
            </a:pPr>
            <a:r>
              <a:rPr lang="ja-JP" altLang="en-US" sz="5330" b="1">
                <a:solidFill>
                  <a:srgbClr val="C9184A"/>
                </a:solidFill>
                <a:latin typeface="Hiragino Maru Gothic ProN"/>
                <a:ea typeface="Hiragino Maru Gothic ProN"/>
                <a:cs typeface="Hiragino Maru Gothic ProN"/>
              </a:rPr>
              <a:t>たたき台にしてください。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4754880"/>
            <a:ext cx="859536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Hiragino Maru Gothic ProN"/>
                <a:ea typeface="Hiragino Maru Gothic ProN"/>
                <a:cs typeface="Hiragino Maru Gothic ProN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
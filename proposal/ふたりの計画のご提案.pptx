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http://schemas.openxmlformats.org/officeDocument/2006/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1695" cy="6858000"/>
  <p:notesSz cx="6858000" cy="9144000"/>
  <p:defaultTextStyle>
    <a:defPPr>
      <a:defRPr lang="ja-JP"/>
    </a:defPPr>
    <a:lvl1pPr marL="0" algn="l" defTabSz="914400" rtl="0" eaLnBrk="1" latinLnBrk="0" hangingPunct="1">
      <a:defRPr sz="1800" kern="1200">
        <a:solidFill>
          <a:schemeClr val="tx1"/>
        </a:solidFill>
        <a:latin typeface="Yu Gothic"/>
        <a:ea typeface="Yu Gothic"/>
        <a:cs typeface="Yu Gothic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渡すときの一言：「決めてほしいんじゃなくて、直してほしい」。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最初に「決裁じゃない」と言い切る。持ち帰ってもらう前提。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空欄は責めない。「ここ埋めてね」で終える。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「削らない」を先に言うと、あとの「後回し」が我慢じゃなく設計に見える。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指差すのは2028年1〜3月の一か所だけ。「入籍と入居、同じ月」。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今の家が安いのは資産。物件探しまで動かない。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金額はここだけ。ほかのページには置かない。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カンヌは隠さない。「家計に影響しない」の一点だけ伝わればいい。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黄色の行が、彼への一番かんたんな宿題。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「改善中」は正直に。自己PRはしない。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言い終わったら、答えを待たない。持ち帰ってもらう。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B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997135" y="4480560"/>
            <a:ext cx="3840480" cy="3840480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" name="Shape 3"/>
          <p:cNvSpPr/>
          <p:nvPr/>
        </p:nvSpPr>
        <p:spPr>
          <a:xfrm>
            <a:off x="10088575" y="822960"/>
            <a:ext cx="1005840" cy="1005840"/>
          </a:xfrm>
          <a:prstGeom prst="ellipse">
            <a:avLst/>
          </a:prstGeom>
          <a:solidFill>
            <a:srgbClr val="2EC4B6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4" name="Shape 4"/>
          <p:cNvSpPr/>
          <p:nvPr/>
        </p:nvSpPr>
        <p:spPr>
          <a:xfrm>
            <a:off x="841248" y="1828800"/>
            <a:ext cx="2761488" cy="420624"/>
          </a:xfrm>
          <a:prstGeom prst="roundRect">
            <a:avLst>
              <a:gd name="adj" fmla="val 30434"/>
            </a:avLst>
          </a:prstGeom>
          <a:noFill/>
          <a:ln w="19050">
            <a:solidFill>
              <a:srgbClr val="FFFFFF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【彼の名前】さん 御中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2377440"/>
            <a:ext cx="8686800" cy="210312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25000"/>
              </a:lnSpc>
            </a:pPr>
            <a:r>
              <a:rPr lang="ja-JP" altLang="en-US"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ふたりの計画の</a:t>
            </a:r>
          </a:p>
          <a:p>
            <a:pPr algn="l">
              <a:lnSpc>
                <a:spcPct val="125000"/>
              </a:lnSpc>
            </a:pPr>
            <a:r>
              <a:rPr lang="ja-JP" altLang="en-US"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46177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 → 2029 の、たたき台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58064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8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大隅絢加 ／ 2026.10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41248" y="137160"/>
            <a:ext cx="1353312" cy="384048"/>
          </a:xfrm>
          <a:prstGeom prst="roundRect">
            <a:avLst>
              <a:gd name="adj" fmla="val 33333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3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64008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0000"/>
              </a:lnSpc>
            </a:pPr>
            <a:r>
              <a:rPr lang="ja-JP" altLang="en-US" sz="27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これは</a:t>
            </a:r>
            <a:r>
              <a:rPr lang="ja-JP" altLang="en-US" sz="2700" b="1">
                <a:solidFill>
                  <a:srgbClr val="2B2D42"/>
                </a:solidFill>
                <a:highlight>
                  <a:srgbClr val="FFE066"/>
                </a:highlight>
                <a:latin typeface="Yu Gothic"/>
                <a:ea typeface="Yu Gothic"/>
                <a:cs typeface="Yu Gothic"/>
              </a:rPr>
              <a:t>たたき台</a:t>
            </a:r>
            <a:r>
              <a:rPr lang="ja-JP" altLang="en-US" sz="27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。赤ペン歓迎です。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2491740"/>
            <a:ext cx="548640" cy="54864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664208" y="2473452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0000"/>
              </a:lnSpc>
            </a:pPr>
            <a:r>
              <a:rPr lang="ja-JP" altLang="en-US" sz="22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決まっていないことのほうが多いです。</a:t>
            </a: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決める期限</a:t>
            </a:r>
            <a:r>
              <a:rPr lang="ja-JP" altLang="en-US" sz="22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だけ、先に置きました。</a:t>
            </a:r>
          </a:p>
        </p:txBody>
      </p:sp>
      <p:sp>
        <p:nvSpPr>
          <p:cNvPr id="6" name="Shape 6"/>
          <p:cNvSpPr/>
          <p:nvPr/>
        </p:nvSpPr>
        <p:spPr>
          <a:xfrm>
            <a:off x="841248" y="3589020"/>
            <a:ext cx="548640" cy="548640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664208" y="3570732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0000"/>
              </a:lnSpc>
            </a:pPr>
            <a:r>
              <a:rPr lang="ja-JP" altLang="en-US" sz="22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数字は</a:t>
            </a: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私の分だけ</a:t>
            </a:r>
            <a:r>
              <a:rPr lang="ja-JP" altLang="en-US" sz="22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。あなたの分は空欄にしてあります。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841248" y="4686300"/>
            <a:ext cx="548640" cy="548640"/>
          </a:xfrm>
          <a:prstGeom prst="ellipse">
            <a:avLst/>
          </a:prstGeom>
          <a:solidFill>
            <a:srgbClr val="2EC4B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64208" y="4668012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0000"/>
              </a:lnSpc>
            </a:pPr>
            <a:r>
              <a:rPr lang="ja-JP" altLang="en-US" sz="22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半年に一度、一緒に開いて直します。</a:t>
            </a: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次は2027年3月</a:t>
            </a:r>
            <a:r>
              <a:rPr lang="ja-JP" altLang="en-US" sz="22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>
                <a:solidFill>
                  <a:srgbClr val="B8B2A8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1" name="Shape 11"/>
          <p:cNvSpPr/>
          <p:nvPr/>
        </p:nvSpPr>
        <p:spPr>
          <a:xfrm>
            <a:off x="10481767" y="6336792"/>
            <a:ext cx="868680" cy="310896"/>
          </a:xfrm>
          <a:prstGeom prst="roundRect">
            <a:avLst>
              <a:gd name="adj" fmla="val 4117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5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41248" y="137160"/>
            <a:ext cx="1755648" cy="384048"/>
          </a:xfrm>
          <a:prstGeom prst="roundRect">
            <a:avLst>
              <a:gd name="adj" fmla="val 33333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3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いまのふたり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64008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0000"/>
              </a:lnSpc>
            </a:pPr>
            <a:r>
              <a:rPr lang="ja-JP" altLang="en-US" sz="27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私の分は埋めました。あなたの分は、次に会うときに。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32688" y="2016252"/>
            <a:ext cx="197510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endParaRPr lang="ja-JP" sz="1250"/>
          </a:p>
        </p:txBody>
      </p:sp>
      <p:sp>
        <p:nvSpPr>
          <p:cNvPr id="5" name="TextBox 5"/>
          <p:cNvSpPr txBox="1"/>
          <p:nvPr/>
        </p:nvSpPr>
        <p:spPr>
          <a:xfrm>
            <a:off x="3035808" y="2016252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80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242048" y="2016252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80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【彼の名前】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753360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766060"/>
            <a:ext cx="197510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年齢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44368" y="2766060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29歳（2026年10月〜）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150608" y="2766060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28歳（2026年8月〜）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3510788"/>
            <a:ext cx="10515600" cy="9525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3515868"/>
            <a:ext cx="197510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944368" y="3515868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転職して、新しい会社へ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50608" y="3515868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自営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4260596"/>
            <a:ext cx="10515600" cy="9525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4265676"/>
            <a:ext cx="197510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944368" y="4265676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今の家で、貯める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50608" y="4265676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実家を出て、笹塚でルームシェア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5010404"/>
            <a:ext cx="10515600" cy="9525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5015484"/>
            <a:ext cx="197510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これから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44368" y="5015484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30歳のうちに入籍したい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150608" y="5015484"/>
            <a:ext cx="4078224" cy="74980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教えてください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1248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>
                <a:solidFill>
                  <a:srgbClr val="B8B2A8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4" name="Shape 24"/>
          <p:cNvSpPr/>
          <p:nvPr/>
        </p:nvSpPr>
        <p:spPr>
          <a:xfrm>
            <a:off x="10481767" y="6336792"/>
            <a:ext cx="868680" cy="310896"/>
          </a:xfrm>
          <a:prstGeom prst="roundRect">
            <a:avLst>
              <a:gd name="adj" fmla="val 4117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5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41248" y="137160"/>
            <a:ext cx="1152144" cy="384048"/>
          </a:xfrm>
          <a:prstGeom prst="roundRect">
            <a:avLst>
              <a:gd name="adj" fmla="val 33333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3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ゴール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64008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0000"/>
              </a:lnSpc>
            </a:pPr>
            <a:r>
              <a:rPr lang="ja-JP" altLang="en-US" sz="27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期限は2つ、削らないものも2つ。あとは全部、動かしてOK。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2564892"/>
            <a:ext cx="3200400" cy="2103120"/>
          </a:xfrm>
          <a:prstGeom prst="roundRect">
            <a:avLst>
              <a:gd name="adj" fmla="val 608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1152144" y="2747772"/>
            <a:ext cx="2578608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8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入籍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52144" y="3113532"/>
            <a:ext cx="2578608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540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lang="ja-JP" altLang="en-US" sz="216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52144" y="4119372"/>
            <a:ext cx="2578608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予定は2028年1〜3月</a:t>
            </a:r>
          </a:p>
        </p:txBody>
      </p:sp>
      <p:sp>
        <p:nvSpPr>
          <p:cNvPr id="8" name="Shape 8"/>
          <p:cNvSpPr/>
          <p:nvPr/>
        </p:nvSpPr>
        <p:spPr>
          <a:xfrm>
            <a:off x="4498848" y="2564892"/>
            <a:ext cx="3200400" cy="2103120"/>
          </a:xfrm>
          <a:prstGeom prst="roundRect">
            <a:avLst>
              <a:gd name="adj" fmla="val 6086"/>
            </a:avLst>
          </a:prstGeom>
          <a:solidFill>
            <a:srgbClr val="FFF1C9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4809744" y="2747772"/>
            <a:ext cx="2578608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8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子ども、一人目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809744" y="3113532"/>
            <a:ext cx="2578608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5400" b="1">
                <a:solidFill>
                  <a:srgbClr val="FFB70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lang="ja-JP" altLang="en-US" sz="216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809744" y="4119372"/>
            <a:ext cx="2578608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2029年10月まで</a:t>
            </a:r>
          </a:p>
        </p:txBody>
      </p:sp>
      <p:sp>
        <p:nvSpPr>
          <p:cNvPr id="12" name="Shape 12"/>
          <p:cNvSpPr/>
          <p:nvPr/>
        </p:nvSpPr>
        <p:spPr>
          <a:xfrm>
            <a:off x="8156448" y="2564892"/>
            <a:ext cx="3200400" cy="2103120"/>
          </a:xfrm>
          <a:prstGeom prst="roundRect">
            <a:avLst>
              <a:gd name="adj" fmla="val 6086"/>
            </a:avLst>
          </a:prstGeom>
          <a:solidFill>
            <a:srgbClr val="D9F5F1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8467344" y="2747772"/>
            <a:ext cx="2578608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8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67344" y="3113532"/>
            <a:ext cx="2578608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5400" b="1">
                <a:solidFill>
                  <a:srgbClr val="2EC4B6"/>
                </a:solidFill>
                <a:latin typeface="Yu Gothic"/>
                <a:ea typeface="Yu Gothic"/>
                <a:cs typeface="Yu Gothic"/>
              </a:rPr>
              <a:t>2</a:t>
            </a:r>
            <a:r>
              <a:rPr lang="ja-JP" altLang="en-US" sz="216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つ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467344" y="4119372"/>
            <a:ext cx="2578608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写真と、新婚旅行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41248" y="48508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15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式と指輪は後回し。2人目は、一旦保留。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1248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>
                <a:solidFill>
                  <a:srgbClr val="B8B2A8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8" name="Shape 18"/>
          <p:cNvSpPr/>
          <p:nvPr/>
        </p:nvSpPr>
        <p:spPr>
          <a:xfrm>
            <a:off x="10481767" y="6336792"/>
            <a:ext cx="868680" cy="310896"/>
          </a:xfrm>
          <a:prstGeom prst="roundRect">
            <a:avLst>
              <a:gd name="adj" fmla="val 4117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5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41248" y="137160"/>
            <a:ext cx="1755648" cy="384048"/>
          </a:xfrm>
          <a:prstGeom prst="roundRect">
            <a:avLst>
              <a:gd name="adj" fmla="val 33333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3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779776" y="137160"/>
            <a:ext cx="8759952" cy="384048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4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入籍と入居は同じ月。2028年1〜3月</a:t>
            </a:r>
          </a:p>
        </p:txBody>
      </p:sp>
      <p:sp>
        <p:nvSpPr>
          <p:cNvPr id="4" name="Shape 4"/>
          <p:cNvSpPr/>
          <p:nvPr/>
        </p:nvSpPr>
        <p:spPr>
          <a:xfrm>
            <a:off x="960120" y="1051560"/>
            <a:ext cx="842865" cy="310896"/>
          </a:xfrm>
          <a:prstGeom prst="rect">
            <a:avLst/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2026</a:t>
            </a:r>
          </a:p>
        </p:txBody>
      </p:sp>
      <p:sp>
        <p:nvSpPr>
          <p:cNvPr id="5" name="Shape 5"/>
          <p:cNvSpPr/>
          <p:nvPr/>
        </p:nvSpPr>
        <p:spPr>
          <a:xfrm>
            <a:off x="960120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6" name="Shape 6"/>
          <p:cNvSpPr/>
          <p:nvPr/>
        </p:nvSpPr>
        <p:spPr>
          <a:xfrm>
            <a:off x="1802985" y="1051560"/>
            <a:ext cx="3371460" cy="310896"/>
          </a:xfrm>
          <a:prstGeom prst="rect">
            <a:avLst/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2027</a:t>
            </a:r>
          </a:p>
        </p:txBody>
      </p:sp>
      <p:sp>
        <p:nvSpPr>
          <p:cNvPr id="7" name="Shape 7"/>
          <p:cNvSpPr/>
          <p:nvPr/>
        </p:nvSpPr>
        <p:spPr>
          <a:xfrm>
            <a:off x="1802985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8" name="Shape 8"/>
          <p:cNvSpPr/>
          <p:nvPr/>
        </p:nvSpPr>
        <p:spPr>
          <a:xfrm>
            <a:off x="2645850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9" name="Shape 9"/>
          <p:cNvSpPr/>
          <p:nvPr/>
        </p:nvSpPr>
        <p:spPr>
          <a:xfrm>
            <a:off x="3488715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0" name="Shape 10"/>
          <p:cNvSpPr/>
          <p:nvPr/>
        </p:nvSpPr>
        <p:spPr>
          <a:xfrm>
            <a:off x="4331580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1" name="Shape 11"/>
          <p:cNvSpPr/>
          <p:nvPr/>
        </p:nvSpPr>
        <p:spPr>
          <a:xfrm>
            <a:off x="5174445" y="1051560"/>
            <a:ext cx="3371460" cy="310896"/>
          </a:xfrm>
          <a:prstGeom prst="rect">
            <a:avLst/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2028</a:t>
            </a:r>
          </a:p>
        </p:txBody>
      </p:sp>
      <p:sp>
        <p:nvSpPr>
          <p:cNvPr id="12" name="Shape 12"/>
          <p:cNvSpPr/>
          <p:nvPr/>
        </p:nvSpPr>
        <p:spPr>
          <a:xfrm>
            <a:off x="5174445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3" name="Shape 13"/>
          <p:cNvSpPr/>
          <p:nvPr/>
        </p:nvSpPr>
        <p:spPr>
          <a:xfrm>
            <a:off x="6017310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4" name="Shape 14"/>
          <p:cNvSpPr/>
          <p:nvPr/>
        </p:nvSpPr>
        <p:spPr>
          <a:xfrm>
            <a:off x="6860175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5" name="Shape 15"/>
          <p:cNvSpPr/>
          <p:nvPr/>
        </p:nvSpPr>
        <p:spPr>
          <a:xfrm>
            <a:off x="7703040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6" name="Shape 16"/>
          <p:cNvSpPr/>
          <p:nvPr/>
        </p:nvSpPr>
        <p:spPr>
          <a:xfrm>
            <a:off x="8545905" y="1051560"/>
            <a:ext cx="3371460" cy="310896"/>
          </a:xfrm>
          <a:prstGeom prst="rect">
            <a:avLst/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2029</a:t>
            </a:r>
          </a:p>
        </p:txBody>
      </p:sp>
      <p:sp>
        <p:nvSpPr>
          <p:cNvPr id="17" name="Shape 17"/>
          <p:cNvSpPr/>
          <p:nvPr/>
        </p:nvSpPr>
        <p:spPr>
          <a:xfrm>
            <a:off x="8545905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8" name="Shape 18"/>
          <p:cNvSpPr/>
          <p:nvPr/>
        </p:nvSpPr>
        <p:spPr>
          <a:xfrm>
            <a:off x="9388770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9" name="Shape 19"/>
          <p:cNvSpPr/>
          <p:nvPr/>
        </p:nvSpPr>
        <p:spPr>
          <a:xfrm>
            <a:off x="10231635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20" name="Shape 20"/>
          <p:cNvSpPr/>
          <p:nvPr/>
        </p:nvSpPr>
        <p:spPr>
          <a:xfrm>
            <a:off x="11074500" y="1362456"/>
            <a:ext cx="842865" cy="310896"/>
          </a:xfrm>
          <a:prstGeom prst="rect">
            <a:avLst/>
          </a:prstGeom>
          <a:noFill/>
          <a:ln w="9525">
            <a:solidFill>
              <a:srgbClr val="EBE4D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1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21" name="Shape 21"/>
          <p:cNvSpPr/>
          <p:nvPr/>
        </p:nvSpPr>
        <p:spPr>
          <a:xfrm>
            <a:off x="960120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2" name="Shape 22"/>
          <p:cNvSpPr/>
          <p:nvPr/>
        </p:nvSpPr>
        <p:spPr>
          <a:xfrm>
            <a:off x="1802985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3" name="Shape 23"/>
          <p:cNvSpPr/>
          <p:nvPr/>
        </p:nvSpPr>
        <p:spPr>
          <a:xfrm>
            <a:off x="2645850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Shape 24"/>
          <p:cNvSpPr/>
          <p:nvPr/>
        </p:nvSpPr>
        <p:spPr>
          <a:xfrm>
            <a:off x="3488715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5" name="Shape 25"/>
          <p:cNvSpPr/>
          <p:nvPr/>
        </p:nvSpPr>
        <p:spPr>
          <a:xfrm>
            <a:off x="4331580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6" name="Shape 26"/>
          <p:cNvSpPr/>
          <p:nvPr/>
        </p:nvSpPr>
        <p:spPr>
          <a:xfrm>
            <a:off x="5174445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7" name="Shape 27"/>
          <p:cNvSpPr/>
          <p:nvPr/>
        </p:nvSpPr>
        <p:spPr>
          <a:xfrm>
            <a:off x="6017310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6860175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Shape 29"/>
          <p:cNvSpPr/>
          <p:nvPr/>
        </p:nvSpPr>
        <p:spPr>
          <a:xfrm>
            <a:off x="7703040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0" name="Shape 30"/>
          <p:cNvSpPr/>
          <p:nvPr/>
        </p:nvSpPr>
        <p:spPr>
          <a:xfrm>
            <a:off x="8545905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1" name="Shape 31"/>
          <p:cNvSpPr/>
          <p:nvPr/>
        </p:nvSpPr>
        <p:spPr>
          <a:xfrm>
            <a:off x="9388770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2" name="Shape 32"/>
          <p:cNvSpPr/>
          <p:nvPr/>
        </p:nvSpPr>
        <p:spPr>
          <a:xfrm>
            <a:off x="10231635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Shape 33"/>
          <p:cNvSpPr/>
          <p:nvPr/>
        </p:nvSpPr>
        <p:spPr>
          <a:xfrm>
            <a:off x="11074500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4" name="Shape 34"/>
          <p:cNvSpPr/>
          <p:nvPr/>
        </p:nvSpPr>
        <p:spPr>
          <a:xfrm>
            <a:off x="11917365" y="1673352"/>
            <a:ext cx="9525" cy="4087368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5" name="Shape 35"/>
          <p:cNvSpPr/>
          <p:nvPr/>
        </p:nvSpPr>
        <p:spPr>
          <a:xfrm>
            <a:off x="274320" y="2350008"/>
            <a:ext cx="640080" cy="424053"/>
          </a:xfrm>
          <a:prstGeom prst="roundRect">
            <a:avLst>
              <a:gd name="adj" fmla="val 30188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36" name="Shape 36"/>
          <p:cNvSpPr/>
          <p:nvPr/>
        </p:nvSpPr>
        <p:spPr>
          <a:xfrm>
            <a:off x="987552" y="2404872"/>
            <a:ext cx="788001" cy="314325"/>
          </a:xfrm>
          <a:prstGeom prst="roundRect">
            <a:avLst>
              <a:gd name="adj" fmla="val 40727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転職</a:t>
            </a:r>
          </a:p>
        </p:txBody>
      </p:sp>
      <p:sp>
        <p:nvSpPr>
          <p:cNvPr id="37" name="Shape 37"/>
          <p:cNvSpPr/>
          <p:nvPr/>
        </p:nvSpPr>
        <p:spPr>
          <a:xfrm>
            <a:off x="1830417" y="2404872"/>
            <a:ext cx="2473731" cy="314325"/>
          </a:xfrm>
          <a:prstGeom prst="roundRect">
            <a:avLst>
              <a:gd name="adj" fmla="val 40727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新しい会社に集中</a:t>
            </a:r>
          </a:p>
        </p:txBody>
      </p:sp>
      <p:sp>
        <p:nvSpPr>
          <p:cNvPr id="38" name="Shape 38"/>
          <p:cNvSpPr/>
          <p:nvPr/>
        </p:nvSpPr>
        <p:spPr>
          <a:xfrm>
            <a:off x="274320" y="2774061"/>
            <a:ext cx="640080" cy="1272159"/>
          </a:xfrm>
          <a:prstGeom prst="roundRect">
            <a:avLst>
              <a:gd name="adj" fmla="val 20000"/>
            </a:avLst>
          </a:prstGeom>
          <a:solidFill>
            <a:srgbClr val="FFF1C9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B703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9" name="Shape 39"/>
          <p:cNvSpPr/>
          <p:nvPr/>
        </p:nvSpPr>
        <p:spPr>
          <a:xfrm>
            <a:off x="987552" y="2828925"/>
            <a:ext cx="4159461" cy="314325"/>
          </a:xfrm>
          <a:prstGeom prst="roundRect">
            <a:avLst>
              <a:gd name="adj" fmla="val 40727"/>
            </a:avLst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彼：ルームシェア（笹塚）</a:t>
            </a:r>
          </a:p>
        </p:txBody>
      </p:sp>
      <p:sp>
        <p:nvSpPr>
          <p:cNvPr id="40" name="Shape 40"/>
          <p:cNvSpPr/>
          <p:nvPr/>
        </p:nvSpPr>
        <p:spPr>
          <a:xfrm>
            <a:off x="5201877" y="2828925"/>
            <a:ext cx="6688056" cy="314325"/>
          </a:xfrm>
          <a:prstGeom prst="roundRect">
            <a:avLst>
              <a:gd name="adj" fmla="val 40727"/>
            </a:avLst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二人の家（子ども前提の広さ）</a:t>
            </a:r>
          </a:p>
        </p:txBody>
      </p:sp>
      <p:sp>
        <p:nvSpPr>
          <p:cNvPr id="41" name="Shape 41"/>
          <p:cNvSpPr/>
          <p:nvPr/>
        </p:nvSpPr>
        <p:spPr>
          <a:xfrm>
            <a:off x="987552" y="3252978"/>
            <a:ext cx="4159461" cy="314325"/>
          </a:xfrm>
          <a:prstGeom prst="roundRect">
            <a:avLst>
              <a:gd name="adj" fmla="val 40727"/>
            </a:avLst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私：今の家で貯める</a:t>
            </a:r>
          </a:p>
        </p:txBody>
      </p:sp>
      <p:sp>
        <p:nvSpPr>
          <p:cNvPr id="42" name="Shape 42"/>
          <p:cNvSpPr/>
          <p:nvPr/>
        </p:nvSpPr>
        <p:spPr>
          <a:xfrm>
            <a:off x="1830417" y="3677031"/>
            <a:ext cx="788001" cy="314325"/>
          </a:xfrm>
          <a:prstGeom prst="roundRect">
            <a:avLst>
              <a:gd name="adj" fmla="val 40727"/>
            </a:avLst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補助の確認</a:t>
            </a:r>
          </a:p>
        </p:txBody>
      </p:sp>
      <p:sp>
        <p:nvSpPr>
          <p:cNvPr id="43" name="Shape 43"/>
          <p:cNvSpPr/>
          <p:nvPr/>
        </p:nvSpPr>
        <p:spPr>
          <a:xfrm>
            <a:off x="3516147" y="3677031"/>
            <a:ext cx="1630866" cy="314325"/>
          </a:xfrm>
          <a:prstGeom prst="roundRect">
            <a:avLst>
              <a:gd name="adj" fmla="val 40727"/>
            </a:avLst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物件探し</a:t>
            </a:r>
          </a:p>
        </p:txBody>
      </p:sp>
      <p:sp>
        <p:nvSpPr>
          <p:cNvPr id="44" name="Shape 44"/>
          <p:cNvSpPr/>
          <p:nvPr/>
        </p:nvSpPr>
        <p:spPr>
          <a:xfrm>
            <a:off x="274320" y="4046220"/>
            <a:ext cx="640080" cy="424053"/>
          </a:xfrm>
          <a:prstGeom prst="roundRect">
            <a:avLst>
              <a:gd name="adj" fmla="val 30188"/>
            </a:avLst>
          </a:prstGeom>
          <a:solidFill>
            <a:srgbClr val="D9F5F1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2EC4B6"/>
                </a:solidFill>
                <a:latin typeface="Yu Gothic"/>
                <a:ea typeface="Yu Gothic"/>
                <a:cs typeface="Yu Gothic"/>
              </a:rPr>
              <a:t>節目</a:t>
            </a:r>
          </a:p>
        </p:txBody>
      </p:sp>
      <p:sp>
        <p:nvSpPr>
          <p:cNvPr id="45" name="Shape 45"/>
          <p:cNvSpPr/>
          <p:nvPr/>
        </p:nvSpPr>
        <p:spPr>
          <a:xfrm>
            <a:off x="5201877" y="4101084"/>
            <a:ext cx="788001" cy="314325"/>
          </a:xfrm>
          <a:prstGeom prst="roundRect">
            <a:avLst>
              <a:gd name="adj" fmla="val 40727"/>
            </a:avLst>
          </a:prstGeom>
          <a:solidFill>
            <a:srgbClr val="2EC4B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入籍→入居</a:t>
            </a:r>
          </a:p>
        </p:txBody>
      </p:sp>
      <p:sp>
        <p:nvSpPr>
          <p:cNvPr id="46" name="Shape 46"/>
          <p:cNvSpPr/>
          <p:nvPr/>
        </p:nvSpPr>
        <p:spPr>
          <a:xfrm>
            <a:off x="6044742" y="4101084"/>
            <a:ext cx="1630866" cy="314325"/>
          </a:xfrm>
          <a:prstGeom prst="roundRect">
            <a:avLst>
              <a:gd name="adj" fmla="val 40727"/>
            </a:avLst>
          </a:prstGeom>
          <a:solidFill>
            <a:srgbClr val="2EC4B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写真・新婚旅行</a:t>
            </a:r>
          </a:p>
        </p:txBody>
      </p:sp>
      <p:sp>
        <p:nvSpPr>
          <p:cNvPr id="47" name="Shape 47"/>
          <p:cNvSpPr/>
          <p:nvPr/>
        </p:nvSpPr>
        <p:spPr>
          <a:xfrm>
            <a:off x="274320" y="4470273"/>
            <a:ext cx="640080" cy="424053"/>
          </a:xfrm>
          <a:prstGeom prst="roundRect">
            <a:avLst>
              <a:gd name="adj" fmla="val 30188"/>
            </a:avLst>
          </a:prstGeom>
          <a:solidFill>
            <a:srgbClr val="DCE8FF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4D96FF"/>
                </a:solidFill>
                <a:latin typeface="Yu Gothic"/>
                <a:ea typeface="Yu Gothic"/>
                <a:cs typeface="Yu Gothic"/>
              </a:rPr>
              <a:t>子ども</a:t>
            </a:r>
          </a:p>
        </p:txBody>
      </p:sp>
      <p:sp>
        <p:nvSpPr>
          <p:cNvPr id="48" name="Shape 48"/>
          <p:cNvSpPr/>
          <p:nvPr/>
        </p:nvSpPr>
        <p:spPr>
          <a:xfrm>
            <a:off x="6887607" y="4525137"/>
            <a:ext cx="2473731" cy="314325"/>
          </a:xfrm>
          <a:prstGeom prst="roundRect">
            <a:avLst>
              <a:gd name="adj" fmla="val 40727"/>
            </a:avLst>
          </a:prstGeom>
          <a:solidFill>
            <a:srgbClr val="4D96FF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3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妊活（半年〜1年）</a:t>
            </a:r>
          </a:p>
        </p:txBody>
      </p:sp>
      <p:sp>
        <p:nvSpPr>
          <p:cNvPr id="49" name="Shape 49"/>
          <p:cNvSpPr/>
          <p:nvPr/>
        </p:nvSpPr>
        <p:spPr>
          <a:xfrm>
            <a:off x="9416202" y="4525137"/>
            <a:ext cx="2473731" cy="314325"/>
          </a:xfrm>
          <a:prstGeom prst="roundRect">
            <a:avLst>
              <a:gd name="adj" fmla="val 40727"/>
            </a:avLst>
          </a:prstGeom>
          <a:solidFill>
            <a:srgbClr val="4D96FF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一人目</a:t>
            </a:r>
          </a:p>
        </p:txBody>
      </p:sp>
      <p:sp>
        <p:nvSpPr>
          <p:cNvPr id="50" name="Shape 50"/>
          <p:cNvSpPr/>
          <p:nvPr/>
        </p:nvSpPr>
        <p:spPr>
          <a:xfrm>
            <a:off x="274320" y="4894326"/>
            <a:ext cx="640080" cy="424053"/>
          </a:xfrm>
          <a:prstGeom prst="roundRect">
            <a:avLst>
              <a:gd name="adj" fmla="val 30188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51" name="Shape 51"/>
          <p:cNvSpPr/>
          <p:nvPr/>
        </p:nvSpPr>
        <p:spPr>
          <a:xfrm>
            <a:off x="6044742" y="4949190"/>
            <a:ext cx="788001" cy="314325"/>
          </a:xfrm>
          <a:prstGeom prst="roundRect">
            <a:avLst>
              <a:gd name="adj" fmla="val 40727"/>
            </a:avLst>
          </a:prstGeom>
          <a:solidFill>
            <a:srgbClr val="9B5DE5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カンヌ</a:t>
            </a:r>
          </a:p>
        </p:txBody>
      </p:sp>
      <p:sp>
        <p:nvSpPr>
          <p:cNvPr id="52" name="Shape 52"/>
          <p:cNvSpPr/>
          <p:nvPr/>
        </p:nvSpPr>
        <p:spPr>
          <a:xfrm>
            <a:off x="274320" y="5318379"/>
            <a:ext cx="640080" cy="424053"/>
          </a:xfrm>
          <a:prstGeom prst="roundRect">
            <a:avLst>
              <a:gd name="adj" fmla="val 30188"/>
            </a:avLst>
          </a:prstGeom>
          <a:solidFill>
            <a:srgbClr val="FFF1C9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B703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53" name="Shape 53"/>
          <p:cNvSpPr/>
          <p:nvPr/>
        </p:nvSpPr>
        <p:spPr>
          <a:xfrm>
            <a:off x="8573337" y="5373243"/>
            <a:ext cx="3316596" cy="314325"/>
          </a:xfrm>
          <a:prstGeom prst="roundRect">
            <a:avLst>
              <a:gd name="adj" fmla="val 40727"/>
            </a:avLst>
          </a:prstGeom>
          <a:solidFill>
            <a:srgbClr val="B8B2A8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8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式・指輪（時期未定）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15295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51287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95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452441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388433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95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30歳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5367277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4727197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95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入籍・入居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126733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062725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95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32歳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274320" y="58978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100" b="0">
                <a:solidFill>
                  <a:srgbClr val="6E7080"/>
                </a:solidFill>
                <a:latin typeface="Yu Gothic"/>
                <a:ea typeface="Yu Gothic"/>
                <a:cs typeface="Yu Gothic"/>
              </a:rPr>
              <a:t>*時期はぜんぶ目安。半年ごとに引き直します。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841248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>
                <a:solidFill>
                  <a:srgbClr val="B8B2A8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64" name="Shape 64"/>
          <p:cNvSpPr/>
          <p:nvPr/>
        </p:nvSpPr>
        <p:spPr>
          <a:xfrm>
            <a:off x="10481767" y="6336792"/>
            <a:ext cx="868680" cy="310896"/>
          </a:xfrm>
          <a:prstGeom prst="roundRect">
            <a:avLst>
              <a:gd name="adj" fmla="val 4117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5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41248" y="137160"/>
            <a:ext cx="1152144" cy="384048"/>
          </a:xfrm>
          <a:prstGeom prst="roundRect">
            <a:avLst>
              <a:gd name="adj" fmla="val 33333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3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64008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0000"/>
              </a:lnSpc>
            </a:pPr>
            <a:r>
              <a:rPr lang="ja-JP" altLang="en-US" sz="27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入籍と入居は同じ月に。最初の家は</a:t>
            </a:r>
            <a:r>
              <a:rPr lang="ja-JP" altLang="en-US" sz="2700" b="1">
                <a:solidFill>
                  <a:srgbClr val="2B2D42"/>
                </a:solidFill>
                <a:highlight>
                  <a:srgbClr val="FFE066"/>
                </a:highlight>
                <a:latin typeface="Yu Gothic"/>
                <a:ea typeface="Yu Gothic"/>
                <a:cs typeface="Yu Gothic"/>
              </a:rPr>
              <a:t>子ども前提の広さ</a:t>
            </a:r>
            <a:r>
              <a:rPr lang="ja-JP" altLang="en-US" sz="27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で、引っ越しは1回。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Shape 5"/>
          <p:cNvSpPr/>
          <p:nvPr/>
        </p:nvSpPr>
        <p:spPr>
          <a:xfrm>
            <a:off x="1133856" y="2290572"/>
            <a:ext cx="1911096" cy="329184"/>
          </a:xfrm>
          <a:prstGeom prst="roundRect">
            <a:avLst>
              <a:gd name="adj" fmla="val 38888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33856" y="2839212"/>
            <a:ext cx="185166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物件探し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3856" y="3982212"/>
            <a:ext cx="1851660" cy="16459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3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子ども前提の広さで。名義は私（世帯主）。補助の型に合わせて探す。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34156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FFF1C9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Shape 9"/>
          <p:cNvSpPr/>
          <p:nvPr/>
        </p:nvSpPr>
        <p:spPr>
          <a:xfrm>
            <a:off x="3826764" y="2290572"/>
            <a:ext cx="2313432" cy="329184"/>
          </a:xfrm>
          <a:prstGeom prst="roundRect">
            <a:avLst>
              <a:gd name="adj" fmla="val 38888"/>
            </a:avLst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2028年1〜3月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826764" y="2839212"/>
            <a:ext cx="185166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入籍 → 入居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826764" y="3982212"/>
            <a:ext cx="1851660" cy="16459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3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入籍が先、入居が後。同じ月の中で。彼のルームシェアは中途解約になる。</a:t>
            </a:r>
          </a:p>
        </p:txBody>
      </p:sp>
      <p:sp>
        <p:nvSpPr>
          <p:cNvPr id="12" name="Shape 12"/>
          <p:cNvSpPr/>
          <p:nvPr/>
        </p:nvSpPr>
        <p:spPr>
          <a:xfrm>
            <a:off x="6227064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D9F5F1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Shape 13"/>
          <p:cNvSpPr/>
          <p:nvPr/>
        </p:nvSpPr>
        <p:spPr>
          <a:xfrm>
            <a:off x="6519672" y="2290572"/>
            <a:ext cx="1508760" cy="329184"/>
          </a:xfrm>
          <a:prstGeom prst="roundRect">
            <a:avLst>
              <a:gd name="adj" fmla="val 38888"/>
            </a:avLst>
          </a:prstGeom>
          <a:solidFill>
            <a:srgbClr val="2EC4B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補助の型で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19672" y="2839212"/>
            <a:ext cx="185166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変わること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19672" y="3982212"/>
            <a:ext cx="1851660" cy="16459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3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手当型なら私名義で家賃15〜16万。借り上げ社宅なら会社契約で審査なし。</a:t>
            </a:r>
          </a:p>
        </p:txBody>
      </p:sp>
      <p:sp>
        <p:nvSpPr>
          <p:cNvPr id="16" name="Shape 16"/>
          <p:cNvSpPr/>
          <p:nvPr/>
        </p:nvSpPr>
        <p:spPr>
          <a:xfrm>
            <a:off x="8919972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DCE8FF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Shape 17"/>
          <p:cNvSpPr/>
          <p:nvPr/>
        </p:nvSpPr>
        <p:spPr>
          <a:xfrm>
            <a:off x="9212580" y="2290572"/>
            <a:ext cx="1508760" cy="329184"/>
          </a:xfrm>
          <a:prstGeom prst="roundRect">
            <a:avLst>
              <a:gd name="adj" fmla="val 38888"/>
            </a:avLst>
          </a:prstGeom>
          <a:solidFill>
            <a:srgbClr val="4D96FF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どっちでも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12580" y="2839212"/>
            <a:ext cx="185166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引っ越しは1回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212580" y="3982212"/>
            <a:ext cx="1851660" cy="16459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3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子どもが来ても住み替えない広さ。補助は一番長く住む家に使う。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>
                <a:solidFill>
                  <a:srgbClr val="B8B2A8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1" name="Shape 21"/>
          <p:cNvSpPr/>
          <p:nvPr/>
        </p:nvSpPr>
        <p:spPr>
          <a:xfrm>
            <a:off x="10481767" y="6336792"/>
            <a:ext cx="868680" cy="310896"/>
          </a:xfrm>
          <a:prstGeom prst="roundRect">
            <a:avLst>
              <a:gd name="adj" fmla="val 4117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5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41248" y="137160"/>
            <a:ext cx="1152144" cy="384048"/>
          </a:xfrm>
          <a:prstGeom prst="roundRect">
            <a:avLst>
              <a:gd name="adj" fmla="val 33333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3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生活費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64008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0000"/>
              </a:lnSpc>
            </a:pPr>
            <a:r>
              <a:rPr lang="ja-JP" altLang="en-US" sz="27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二人の財布はひとつにして、見える化。削らないものだけ先に決める。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Shape 5"/>
          <p:cNvSpPr/>
          <p:nvPr/>
        </p:nvSpPr>
        <p:spPr>
          <a:xfrm>
            <a:off x="1133856" y="2290572"/>
            <a:ext cx="1307592" cy="329184"/>
          </a:xfrm>
          <a:prstGeom prst="roundRect">
            <a:avLst>
              <a:gd name="adj" fmla="val 38888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🏠 家賃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33856" y="2839212"/>
            <a:ext cx="185166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月15〜20万、</a:t>
            </a:r>
          </a:p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折半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3856" y="3982212"/>
            <a:ext cx="1851660" cy="16459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3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私の分は上限10万。名義は私、共同口座から引き落とし。20万なら入籍後に収入合算。</a:t>
            </a:r>
          </a:p>
        </p:txBody>
      </p:sp>
      <p:sp>
        <p:nvSpPr>
          <p:cNvPr id="8" name="Shape 8"/>
          <p:cNvSpPr/>
          <p:nvPr/>
        </p:nvSpPr>
        <p:spPr>
          <a:xfrm>
            <a:off x="3534156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FFF1C9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Shape 9"/>
          <p:cNvSpPr/>
          <p:nvPr/>
        </p:nvSpPr>
        <p:spPr>
          <a:xfrm>
            <a:off x="3826764" y="2290572"/>
            <a:ext cx="1709928" cy="329184"/>
          </a:xfrm>
          <a:prstGeom prst="roundRect">
            <a:avLst>
              <a:gd name="adj" fmla="val 38888"/>
            </a:avLst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🏦 共同口座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826764" y="2839212"/>
            <a:ext cx="185166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お金はぜんぶ、</a:t>
            </a:r>
          </a:p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ここから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826764" y="3982212"/>
            <a:ext cx="1851660" cy="16459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3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私名義で、入居と同時に開設。年に1回だけ棚卸し。お小遣いには干渉しない。</a:t>
            </a:r>
          </a:p>
        </p:txBody>
      </p:sp>
      <p:sp>
        <p:nvSpPr>
          <p:cNvPr id="12" name="Shape 12"/>
          <p:cNvSpPr/>
          <p:nvPr/>
        </p:nvSpPr>
        <p:spPr>
          <a:xfrm>
            <a:off x="6227064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D9F5F1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Shape 13"/>
          <p:cNvSpPr/>
          <p:nvPr/>
        </p:nvSpPr>
        <p:spPr>
          <a:xfrm>
            <a:off x="6519672" y="2290572"/>
            <a:ext cx="2112264" cy="329184"/>
          </a:xfrm>
          <a:prstGeom prst="roundRect">
            <a:avLst>
              <a:gd name="adj" fmla="val 38888"/>
            </a:avLst>
          </a:prstGeom>
          <a:solidFill>
            <a:srgbClr val="2EC4B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📸 削らないもの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19672" y="2839212"/>
            <a:ext cx="185166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写真と、</a:t>
            </a:r>
          </a:p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新婚旅行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19672" y="3982212"/>
            <a:ext cx="1851660" cy="16459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3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収入が増える分から、月に決めた額を積む。出産の費用もここから。</a:t>
            </a:r>
          </a:p>
        </p:txBody>
      </p:sp>
      <p:sp>
        <p:nvSpPr>
          <p:cNvPr id="16" name="Shape 16"/>
          <p:cNvSpPr/>
          <p:nvPr/>
        </p:nvSpPr>
        <p:spPr>
          <a:xfrm>
            <a:off x="8919972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DCE8FF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Shape 17"/>
          <p:cNvSpPr/>
          <p:nvPr/>
        </p:nvSpPr>
        <p:spPr>
          <a:xfrm>
            <a:off x="9212580" y="2290572"/>
            <a:ext cx="1508760" cy="329184"/>
          </a:xfrm>
          <a:prstGeom prst="roundRect">
            <a:avLst>
              <a:gd name="adj" fmla="val 38888"/>
            </a:avLst>
          </a:prstGeom>
          <a:solidFill>
            <a:srgbClr val="4D96FF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💍 後回し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12580" y="2839212"/>
            <a:ext cx="185166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式と、</a:t>
            </a:r>
          </a:p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指輪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212580" y="3982212"/>
            <a:ext cx="1851660" cy="16459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3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時期も規模も、まだ決めない。決めたくなったら、そのとき決める。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>
                <a:solidFill>
                  <a:srgbClr val="B8B2A8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1" name="Shape 21"/>
          <p:cNvSpPr/>
          <p:nvPr/>
        </p:nvSpPr>
        <p:spPr>
          <a:xfrm>
            <a:off x="10481767" y="6336792"/>
            <a:ext cx="868680" cy="310896"/>
          </a:xfrm>
          <a:prstGeom prst="roundRect">
            <a:avLst>
              <a:gd name="adj" fmla="val 4117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5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41248" y="137160"/>
            <a:ext cx="1956816" cy="384048"/>
          </a:xfrm>
          <a:prstGeom prst="roundRect">
            <a:avLst>
              <a:gd name="adj" fmla="val 33333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3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私のお金のこと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64008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0000"/>
              </a:lnSpc>
            </a:pPr>
            <a:r>
              <a:rPr lang="ja-JP" altLang="en-US" sz="27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私の側の事情だけ、先に正直に。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967103"/>
            <a:ext cx="548640" cy="54864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664208" y="1948815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0000"/>
              </a:lnSpc>
            </a:pPr>
            <a:r>
              <a:rPr lang="ja-JP" altLang="en-US" sz="22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転職で、年収は</a:t>
            </a: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100万円くらい上がる</a:t>
            </a:r>
            <a:r>
              <a:rPr lang="ja-JP" altLang="en-US" sz="22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予定。増えた分が、この計画の原資。</a:t>
            </a:r>
          </a:p>
        </p:txBody>
      </p:sp>
      <p:sp>
        <p:nvSpPr>
          <p:cNvPr id="6" name="Shape 6"/>
          <p:cNvSpPr/>
          <p:nvPr/>
        </p:nvSpPr>
        <p:spPr>
          <a:xfrm>
            <a:off x="841248" y="3048381"/>
            <a:ext cx="548640" cy="548640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664208" y="3030093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0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2028年頭までに75万</a:t>
            </a:r>
            <a:r>
              <a:rPr lang="ja-JP" altLang="en-US" sz="22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貯める。二人の家の初期費用の私の分は、ここから。</a:t>
            </a:r>
          </a:p>
        </p:txBody>
      </p:sp>
      <p:sp>
        <p:nvSpPr>
          <p:cNvPr id="8" name="Shape 8"/>
          <p:cNvSpPr/>
          <p:nvPr/>
        </p:nvSpPr>
        <p:spPr>
          <a:xfrm>
            <a:off x="841248" y="4129659"/>
            <a:ext cx="548640" cy="548640"/>
          </a:xfrm>
          <a:prstGeom prst="ellipse">
            <a:avLst/>
          </a:prstGeom>
          <a:solidFill>
            <a:srgbClr val="2EC4B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64208" y="4111371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0000"/>
              </a:lnSpc>
            </a:pPr>
            <a:r>
              <a:rPr lang="ja-JP" altLang="en-US" sz="22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貯金の代わりに、</a:t>
            </a: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NISAでコツコツ</a:t>
            </a:r>
            <a:r>
              <a:rPr lang="ja-JP" altLang="en-US" sz="22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（225万円分）。これは崩さない。</a:t>
            </a:r>
          </a:p>
        </p:txBody>
      </p:sp>
      <p:sp>
        <p:nvSpPr>
          <p:cNvPr id="10" name="Shape 10"/>
          <p:cNvSpPr/>
          <p:nvPr/>
        </p:nvSpPr>
        <p:spPr>
          <a:xfrm>
            <a:off x="841248" y="5210937"/>
            <a:ext cx="548640" cy="548640"/>
          </a:xfrm>
          <a:prstGeom prst="ellipse">
            <a:avLst/>
          </a:prstGeom>
          <a:solidFill>
            <a:srgbClr val="4D96FF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64208" y="5192649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0000"/>
              </a:lnSpc>
            </a:pPr>
            <a:r>
              <a:rPr lang="ja-JP" altLang="en-US" sz="193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2028年6月の</a:t>
            </a:r>
            <a:r>
              <a:rPr lang="ja-JP" altLang="en-US" sz="193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カンヌ</a:t>
            </a:r>
            <a:r>
              <a:rPr lang="ja-JP" altLang="en-US" sz="193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は仕事。費用は私側（会社負担を含む）で、家計からは出さない。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1248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>
                <a:solidFill>
                  <a:srgbClr val="B8B2A8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3" name="Shape 13"/>
          <p:cNvSpPr/>
          <p:nvPr/>
        </p:nvSpPr>
        <p:spPr>
          <a:xfrm>
            <a:off x="10481767" y="6336792"/>
            <a:ext cx="868680" cy="310896"/>
          </a:xfrm>
          <a:prstGeom prst="roundRect">
            <a:avLst>
              <a:gd name="adj" fmla="val 4117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5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41248" y="137160"/>
            <a:ext cx="1554480" cy="384048"/>
          </a:xfrm>
          <a:prstGeom prst="roundRect">
            <a:avLst>
              <a:gd name="adj" fmla="val 33333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3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64008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0000"/>
              </a:lnSpc>
            </a:pPr>
            <a:r>
              <a:rPr lang="ja-JP" altLang="en-US" sz="27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決まっていないことは、期限つきで置いておきます。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32688" y="1728216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80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33488" y="1728216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80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いつまで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619488" y="1728216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80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だれが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256155"/>
            <a:ext cx="10515600" cy="25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268855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家賃補助の型・上限・同居人の条件・回数・退職時の扱い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242048" y="2268855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入社後すぐ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28048" y="2268855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2804414"/>
            <a:ext cx="10515600" cy="9525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2809494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給与の形（賞与の有無）を見て、家賃の負担額を確定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242048" y="2809494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2027年1月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28048" y="2809494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345053"/>
            <a:ext cx="10515600" cy="9525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350133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ルームシェアの契約期間と、解約の条件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242048" y="3350133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契約前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528048" y="3350133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【彼の名前】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3885692"/>
            <a:ext cx="10515600" cy="9525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3890772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入籍と入居を、何月にするか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42048" y="3890772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528048" y="3890772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23" name="Shape 23"/>
          <p:cNvSpPr/>
          <p:nvPr/>
        </p:nvSpPr>
        <p:spPr>
          <a:xfrm>
            <a:off x="841248" y="4426331"/>
            <a:ext cx="10515600" cy="9525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TextBox 24"/>
          <p:cNvSpPr txBox="1"/>
          <p:nvPr/>
        </p:nvSpPr>
        <p:spPr>
          <a:xfrm>
            <a:off x="841248" y="4431411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収入合算が要るなら、確定申告書2〜3期分を用意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242048" y="4431411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528048" y="4431411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【彼の名前】</a:t>
            </a:r>
          </a:p>
        </p:txBody>
      </p:sp>
      <p:sp>
        <p:nvSpPr>
          <p:cNvPr id="27" name="Shape 27"/>
          <p:cNvSpPr/>
          <p:nvPr/>
        </p:nvSpPr>
        <p:spPr>
          <a:xfrm>
            <a:off x="841248" y="4966970"/>
            <a:ext cx="10515600" cy="9525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841248" y="4972050"/>
            <a:ext cx="10515600" cy="540639"/>
          </a:xfrm>
          <a:prstGeom prst="roundRect">
            <a:avLst>
              <a:gd name="adj" fmla="val 23678"/>
            </a:avLst>
          </a:prstGeom>
          <a:solidFill>
            <a:srgbClr val="FFE066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TextBox 29"/>
          <p:cNvSpPr txBox="1"/>
          <p:nvPr/>
        </p:nvSpPr>
        <p:spPr>
          <a:xfrm>
            <a:off x="932688" y="4972050"/>
            <a:ext cx="6181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あなたの分の空欄を埋める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333488" y="4972050"/>
            <a:ext cx="20665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次に会うとき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619488" y="4972050"/>
            <a:ext cx="1609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【彼の名前】</a:t>
            </a:r>
          </a:p>
        </p:txBody>
      </p:sp>
      <p:sp>
        <p:nvSpPr>
          <p:cNvPr id="32" name="Shape 32"/>
          <p:cNvSpPr/>
          <p:nvPr/>
        </p:nvSpPr>
        <p:spPr>
          <a:xfrm>
            <a:off x="841248" y="5507609"/>
            <a:ext cx="10515600" cy="9525"/>
          </a:xfrm>
          <a:prstGeom prst="rect">
            <a:avLst/>
          </a:prstGeom>
          <a:solidFill>
            <a:srgbClr val="EBE4D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TextBox 33"/>
          <p:cNvSpPr txBox="1"/>
          <p:nvPr/>
        </p:nvSpPr>
        <p:spPr>
          <a:xfrm>
            <a:off x="841248" y="5512689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2人目をどうするか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242048" y="5512689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一人目のあと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528048" y="5512689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41248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>
                <a:solidFill>
                  <a:srgbClr val="B8B2A8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37" name="Shape 37"/>
          <p:cNvSpPr/>
          <p:nvPr/>
        </p:nvSpPr>
        <p:spPr>
          <a:xfrm>
            <a:off x="10481767" y="6336792"/>
            <a:ext cx="868680" cy="310896"/>
          </a:xfrm>
          <a:prstGeom prst="roundRect">
            <a:avLst>
              <a:gd name="adj" fmla="val 4117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5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41248" y="137160"/>
            <a:ext cx="950976" cy="384048"/>
          </a:xfrm>
          <a:prstGeom prst="roundRect">
            <a:avLst>
              <a:gd name="adj" fmla="val 33333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3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約束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64008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0000"/>
              </a:lnSpc>
            </a:pPr>
            <a:r>
              <a:rPr lang="ja-JP" altLang="en-US" sz="27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私の側から先に。変えないことと、直すことを分けて。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Shape 5"/>
          <p:cNvSpPr/>
          <p:nvPr/>
        </p:nvSpPr>
        <p:spPr>
          <a:xfrm>
            <a:off x="1133856" y="2290572"/>
            <a:ext cx="1307592" cy="329184"/>
          </a:xfrm>
          <a:prstGeom prst="roundRect">
            <a:avLst>
              <a:gd name="adj" fmla="val 38888"/>
            </a:avLst>
          </a:prstGeom>
          <a:solidFill>
            <a:srgbClr val="FF6B6B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💼 仕事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33856" y="2839212"/>
            <a:ext cx="185166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熱量は</a:t>
            </a:r>
          </a:p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落とさない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3856" y="3982212"/>
            <a:ext cx="1851660" cy="16459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3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30歳まではお互い仕事優先。結婚が仕事の邪魔をしない設計にする。</a:t>
            </a:r>
          </a:p>
        </p:txBody>
      </p:sp>
      <p:sp>
        <p:nvSpPr>
          <p:cNvPr id="8" name="Shape 8"/>
          <p:cNvSpPr/>
          <p:nvPr/>
        </p:nvSpPr>
        <p:spPr>
          <a:xfrm>
            <a:off x="3534156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FFF1C9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Shape 9"/>
          <p:cNvSpPr/>
          <p:nvPr/>
        </p:nvSpPr>
        <p:spPr>
          <a:xfrm>
            <a:off x="3826764" y="2290572"/>
            <a:ext cx="1307592" cy="329184"/>
          </a:xfrm>
          <a:prstGeom prst="roundRect">
            <a:avLst>
              <a:gd name="adj" fmla="val 38888"/>
            </a:avLst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🕊 自由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826764" y="2839212"/>
            <a:ext cx="185166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ひとりの時間は</a:t>
            </a:r>
          </a:p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制度で守る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826764" y="3982212"/>
            <a:ext cx="1851660" cy="16459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3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二人の家に自室を持つ。週に一度は別行動でいい。</a:t>
            </a:r>
          </a:p>
        </p:txBody>
      </p:sp>
      <p:sp>
        <p:nvSpPr>
          <p:cNvPr id="12" name="Shape 12"/>
          <p:cNvSpPr/>
          <p:nvPr/>
        </p:nvSpPr>
        <p:spPr>
          <a:xfrm>
            <a:off x="6227064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D9F5F1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Shape 13"/>
          <p:cNvSpPr/>
          <p:nvPr/>
        </p:nvSpPr>
        <p:spPr>
          <a:xfrm>
            <a:off x="6519672" y="2290572"/>
            <a:ext cx="1307592" cy="329184"/>
          </a:xfrm>
          <a:prstGeom prst="roundRect">
            <a:avLst>
              <a:gd name="adj" fmla="val 38888"/>
            </a:avLst>
          </a:prstGeom>
          <a:solidFill>
            <a:srgbClr val="2EC4B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🧹 家事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19672" y="2839212"/>
            <a:ext cx="185166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掃除は</a:t>
            </a:r>
          </a:p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改善中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19672" y="3982212"/>
            <a:ext cx="1851660" cy="16459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3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得意なほうがやる。決まらないものは外注も選択肢に入れる。</a:t>
            </a:r>
          </a:p>
        </p:txBody>
      </p:sp>
      <p:sp>
        <p:nvSpPr>
          <p:cNvPr id="16" name="Shape 16"/>
          <p:cNvSpPr/>
          <p:nvPr/>
        </p:nvSpPr>
        <p:spPr>
          <a:xfrm>
            <a:off x="8919972" y="1924812"/>
            <a:ext cx="2436876" cy="3931920"/>
          </a:xfrm>
          <a:prstGeom prst="roundRect">
            <a:avLst>
              <a:gd name="adj" fmla="val 5253"/>
            </a:avLst>
          </a:prstGeom>
          <a:solidFill>
            <a:srgbClr val="DCE8FF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Shape 17"/>
          <p:cNvSpPr/>
          <p:nvPr/>
        </p:nvSpPr>
        <p:spPr>
          <a:xfrm>
            <a:off x="9212580" y="2290572"/>
            <a:ext cx="1508760" cy="329184"/>
          </a:xfrm>
          <a:prstGeom prst="roundRect">
            <a:avLst>
              <a:gd name="adj" fmla="val 38888"/>
            </a:avLst>
          </a:prstGeom>
          <a:solidFill>
            <a:srgbClr val="4D96FF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🤝 ケンカ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12580" y="2839212"/>
            <a:ext cx="185166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片方が謝って</a:t>
            </a:r>
          </a:p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終わる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212580" y="3982212"/>
            <a:ext cx="1851660" cy="16459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350" b="0">
                <a:solidFill>
                  <a:srgbClr val="2B2D42"/>
                </a:solidFill>
                <a:latin typeface="Yu Gothic"/>
                <a:ea typeface="Yu Gothic"/>
                <a:cs typeface="Yu Gothic"/>
              </a:rPr>
              <a:t>今のやり方を変えない。翌日に持ち越さない。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>
                <a:solidFill>
                  <a:srgbClr val="B8B2A8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1" name="Shape 21"/>
          <p:cNvSpPr/>
          <p:nvPr/>
        </p:nvSpPr>
        <p:spPr>
          <a:xfrm>
            <a:off x="10481767" y="6336792"/>
            <a:ext cx="868680" cy="310896"/>
          </a:xfrm>
          <a:prstGeom prst="roundRect">
            <a:avLst>
              <a:gd name="adj" fmla="val 41176"/>
            </a:avLst>
          </a:prstGeom>
          <a:solidFill>
            <a:srgbClr val="FFE3E0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50" b="1">
                <a:solidFill>
                  <a:srgbClr val="FF6B6B"/>
                </a:solidFill>
                <a:latin typeface="Yu Gothic"/>
                <a:ea typeface="Yu Gothic"/>
                <a:cs typeface="Yu Gothic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B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-1463040" y="4663440"/>
            <a:ext cx="3291840" cy="3291840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" name="Shape 3"/>
          <p:cNvSpPr/>
          <p:nvPr/>
        </p:nvSpPr>
        <p:spPr>
          <a:xfrm>
            <a:off x="10454335" y="548640"/>
            <a:ext cx="1280160" cy="1280160"/>
          </a:xfrm>
          <a:prstGeom prst="ellipse">
            <a:avLst/>
          </a:prstGeom>
          <a:solidFill>
            <a:srgbClr val="2EC4B6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4" name="TextBox 4"/>
          <p:cNvSpPr txBox="1"/>
          <p:nvPr/>
        </p:nvSpPr>
        <p:spPr>
          <a:xfrm>
            <a:off x="841248" y="2468880"/>
            <a:ext cx="10515600" cy="164592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ctr">
              <a:lnSpc>
                <a:spcPct val="140000"/>
              </a:lnSpc>
            </a:pPr>
            <a:r>
              <a:rPr lang="ja-JP" altLang="en-US" sz="4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この紙を、たたき台にしてください。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420624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60000"/>
              </a:lnSpc>
            </a:pPr>
            <a:r>
              <a:rPr lang="ja-JP" altLang="en-US"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次に開くのは2027年3月。それまでに、赤ペンで返してね。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ふたりの計画の
ご提案</dc:title>
  <dc:creator>大隅絢加</dc:creator>
</cp:coreProperties>
</file>
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http://schemas.openxmlformats.org/officeDocument/2006/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695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Yu Gothic"/>
        <a:ea typeface="Yu Gothic"/>
        <a:cs typeface="Yu Gothic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真顔で渡す。笑われたら勝ち。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3行で全部言う。ここで泣かせない。まだ早い。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彼の言葉をそのまま書く。言い換えない。ここで言い換えると、あとの「課題」が効かない。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口ぐせは本人が一番覚えていない。言われた日付まで言えると強い。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ごはんの数は雑に計算していい。雑さも含めて笑うところ。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ここは真面目に読む。声に出すなら一番ゆっくり。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「これから」の空欄を指差す。このページが提案の入口。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誰のことも責めない。世の中の話として言う。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右側は少しだけ本音。重くしすぎない。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この資料の山。ここだけは間を取る。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最後のページと同じ言葉。ここで一度言っておく。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施策はひとつ。A案B案は出さない。比較するものじゃない。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実務の話をきちんとすると、冗談で終わらない。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ルールは彼と一緒に書き換える前提。たたき台。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笑わせるページ。ここで空気を戻す。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数字は3つ。増やさない。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最後の行だけ黄色。ここを読ませる。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週割にしてあるのは本気度の演出。実際は全部ずらしていい。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決裁者は彼。決めるのは彼、という形にしておく。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言い終わったら黙って待つ。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41248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7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【彼の名前】 御中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9718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3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56235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1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提案者：大隅絢加</a:t>
            </a:r>
          </a:p>
          <a:p>
            <a:pPr algn="l">
              <a:lnSpc>
                <a:spcPct val="160000"/>
              </a:lnSpc>
            </a:pPr>
            <a:r>
              <a:rPr lang="ja-JP" altLang="en-US" sz="11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2026.09</a:t>
            </a:r>
          </a:p>
        </p:txBody>
      </p:sp>
      <p:sp>
        <p:nvSpPr>
          <p:cNvPr id="6" name="Shap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ご提案サマリ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本日は、これからの毎日を</a:t>
            </a:r>
            <a:r>
              <a:rPr lang="ja-JP" altLang="en-US" sz="2000" b="0">
                <a:solidFill>
                  <a:srgbClr val="14141A"/>
                </a:solidFill>
                <a:highlight>
                  <a:srgbClr val="FFD93D"/>
                </a:highlight>
                <a:latin typeface="Yu Gothic Medium"/>
                <a:ea typeface="Yu Gothic Medium"/>
                <a:cs typeface="Yu Gothic Medium"/>
              </a:rPr>
              <a:t>ふたりの共同プロジェクト</a:t>
            </a: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にするご提案です。恋人という契約を、家族に切り替えます。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66547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2768" y="261061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交際【◯年◯か月】。</a:t>
            </a:r>
            <a:r>
              <a:rPr lang="ja-JP" altLang="en-US" sz="18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一緒にいて楽なこと</a:t>
            </a: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は、もう十分に検証が済んでいる。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36255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2768" y="357073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足りないのは気持ちではなく、</a:t>
            </a:r>
            <a:r>
              <a:rPr lang="ja-JP" altLang="en-US" sz="18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「いつから」という日付</a:t>
            </a: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だけ。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458571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2768" y="453085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だから今日、日付を決めにきました。</a:t>
            </a:r>
            <a:r>
              <a:rPr lang="ja-JP" altLang="en-US" sz="18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帰る場所を、ひとつに。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Shap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INDEX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13716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8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09928" y="133502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与件整理（あなたの言葉）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22860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8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9928" y="224942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現状整理（私調べ）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3200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8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9928" y="316382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解決すべき課題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41148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8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9928" y="407822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ご提案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1248" y="5029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8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9928" y="4992624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スケジュール・体制・お見積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Shap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与件整理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これまでの会話から、あなたの希望をこう受け取っています。</a:t>
            </a:r>
          </a:p>
        </p:txBody>
      </p:sp>
      <p:sp>
        <p:nvSpPr>
          <p:cNvPr id="4" name="Shape 4"/>
          <p:cNvSpPr/>
          <p:nvPr/>
        </p:nvSpPr>
        <p:spPr>
          <a:xfrm>
            <a:off x="841248" y="1728216"/>
            <a:ext cx="1691640" cy="1094667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5" name="Shape 5"/>
          <p:cNvSpPr/>
          <p:nvPr/>
        </p:nvSpPr>
        <p:spPr>
          <a:xfrm>
            <a:off x="2761488" y="1728216"/>
            <a:ext cx="8588959" cy="1094667"/>
          </a:xfrm>
          <a:prstGeom prst="rect">
            <a:avLst/>
          </a:prstGeom>
          <a:noFill/>
          <a:ln w="19050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3035808" y="1728216"/>
            <a:ext cx="8040319" cy="1094667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・毎日を、機嫌よく過ごしたい</a:t>
            </a:r>
          </a:p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・【あなたが言っていた将来の希望】</a:t>
            </a:r>
          </a:p>
        </p:txBody>
      </p:sp>
      <p:sp>
        <p:nvSpPr>
          <p:cNvPr id="7" name="Shape 7"/>
          <p:cNvSpPr/>
          <p:nvPr/>
        </p:nvSpPr>
        <p:spPr>
          <a:xfrm>
            <a:off x="841248" y="2987475"/>
            <a:ext cx="1691640" cy="1094667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8" name="Shape 8"/>
          <p:cNvSpPr/>
          <p:nvPr/>
        </p:nvSpPr>
        <p:spPr>
          <a:xfrm>
            <a:off x="2761488" y="2987475"/>
            <a:ext cx="8588959" cy="1094667"/>
          </a:xfrm>
          <a:prstGeom prst="rect">
            <a:avLst/>
          </a:prstGeom>
          <a:noFill/>
          <a:ln w="19050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3035808" y="2987475"/>
            <a:ext cx="8040319" cy="1094667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・交際【◯年◯か月】</a:t>
            </a:r>
          </a:p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・合鍵あり。お互いの実家とは顔見知り</a:t>
            </a:r>
          </a:p>
        </p:txBody>
      </p:sp>
      <p:sp>
        <p:nvSpPr>
          <p:cNvPr id="10" name="Shape 10"/>
          <p:cNvSpPr/>
          <p:nvPr/>
        </p:nvSpPr>
        <p:spPr>
          <a:xfrm>
            <a:off x="841248" y="4246734"/>
            <a:ext cx="1691640" cy="1094667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気になっていること</a:t>
            </a:r>
          </a:p>
        </p:txBody>
      </p:sp>
      <p:sp>
        <p:nvSpPr>
          <p:cNvPr id="11" name="Shape 11"/>
          <p:cNvSpPr/>
          <p:nvPr/>
        </p:nvSpPr>
        <p:spPr>
          <a:xfrm>
            <a:off x="2761488" y="4246734"/>
            <a:ext cx="8588959" cy="1094667"/>
          </a:xfrm>
          <a:prstGeom prst="rect">
            <a:avLst/>
          </a:prstGeom>
          <a:noFill/>
          <a:ln w="19050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035808" y="4246734"/>
            <a:ext cx="8040319" cy="1094667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・【例：お金のこと／仕事のタイミング】</a:t>
            </a:r>
          </a:p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・【例：まだ実感がわかない】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" y="5505993"/>
            <a:ext cx="1691640" cy="547333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ご予算</a:t>
            </a:r>
          </a:p>
        </p:txBody>
      </p:sp>
      <p:sp>
        <p:nvSpPr>
          <p:cNvPr id="14" name="Shape 14"/>
          <p:cNvSpPr/>
          <p:nvPr/>
        </p:nvSpPr>
        <p:spPr>
          <a:xfrm>
            <a:off x="2761488" y="5505993"/>
            <a:ext cx="8588959" cy="547333"/>
          </a:xfrm>
          <a:prstGeom prst="rect">
            <a:avLst/>
          </a:prstGeom>
          <a:noFill/>
          <a:ln w="19050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3035808" y="5505993"/>
            <a:ext cx="8040319" cy="54733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65000"/>
              </a:lnSpc>
              <a:spcAft>
                <a:spcPts val="400"/>
              </a:spcAft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・今のところ、ふたりの財布のまま。無理のない範囲で。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Shap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あなたの言葉と、私の解釈</a:t>
            </a:r>
          </a:p>
        </p:txBody>
      </p:sp>
      <p:sp>
        <p:nvSpPr>
          <p:cNvPr id="3" name="Shape 3"/>
          <p:cNvSpPr/>
          <p:nvPr/>
        </p:nvSpPr>
        <p:spPr>
          <a:xfrm>
            <a:off x="2852928" y="960120"/>
            <a:ext cx="6492240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4" name="Shape 4"/>
          <p:cNvSpPr/>
          <p:nvPr/>
        </p:nvSpPr>
        <p:spPr>
          <a:xfrm>
            <a:off x="3401568" y="1280160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3675888" y="128016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65000"/>
              </a:lnSpc>
            </a:pPr>
            <a:r>
              <a:rPr lang="ja-JP" altLang="en-US" sz="11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【彼の口ぐせ。例：「まあ、なんとかなるでしょ」】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52928" y="205740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0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【彼の名前】談（【いつ・どこで】）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2928" y="3017520"/>
            <a:ext cx="8321040" cy="30358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5000"/>
              </a:lnSpc>
            </a:pPr>
            <a:r>
              <a:rPr lang="ja-JP" altLang="en-US" sz="17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その言葉を、私はいつも「一緒なら」の省略形として聞いています。</a:t>
            </a:r>
          </a:p>
          <a:p>
            <a:pPr algn="l">
              <a:lnSpc>
                <a:spcPct val="175000"/>
              </a:lnSpc>
            </a:pPr>
            <a:r>
              <a:rPr lang="ja-JP" altLang="en-US" sz="17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なんとかなる、の根拠は根拠のなさではなく、隣にいる人です。</a:t>
            </a:r>
          </a:p>
          <a:p>
            <a:pPr algn="l">
              <a:lnSpc>
                <a:spcPct val="175000"/>
              </a:lnSpc>
            </a:pPr>
            <a:r>
              <a:rPr lang="ja-JP" altLang="en-US" sz="17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この提案は、その省略を</a:t>
            </a:r>
            <a:r>
              <a:rPr lang="ja-JP" altLang="en-US" sz="1700" b="0">
                <a:solidFill>
                  <a:srgbClr val="14141A"/>
                </a:solidFill>
                <a:highlight>
                  <a:srgbClr val="FFD93D"/>
                </a:highlight>
                <a:latin typeface="Yu Gothic"/>
                <a:ea typeface="Yu Gothic"/>
                <a:cs typeface="Yu Gothic"/>
              </a:rPr>
              <a:t>正式な契約</a:t>
            </a:r>
            <a:r>
              <a:rPr lang="ja-JP" altLang="en-US" sz="17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に書き換えるものです。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現状整理（私調べ）</a:t>
            </a:r>
            <a:r>
              <a:rPr lang="ja-JP" altLang="en-US" sz="1200" b="0" spc="6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　一緒にいた時間は十分に長く、それでも飽きた日は一日もない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数字にすると、もう「試している段階」ではないことがわかります。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交際期間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【◯】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【出会った年】→ 2026年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88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一緒に食べたごはん（概算）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88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38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【1,500】</a:t>
            </a:r>
            <a:r>
              <a:rPr lang="ja-JP" altLang="en-US" sz="1544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88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週5食 × 52週 × 年数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64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ケンカのあとの仲直り率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64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100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564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全期間・n=全部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48508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出典：私調べ（2026年9月・記憶ベース）。多少の誤差はご容赦ください。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6" name="Shap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デプスインタビュー（対象者：提案者本人）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好きな理由はいくつも言えるけれど、一番の理由は「理由がいらないこと」。</a:t>
            </a:r>
          </a:p>
        </p:txBody>
      </p:sp>
      <p:sp>
        <p:nvSpPr>
          <p:cNvPr id="4" name="Shape 4"/>
          <p:cNvSpPr/>
          <p:nvPr/>
        </p:nvSpPr>
        <p:spPr>
          <a:xfrm>
            <a:off x="841248" y="2542032"/>
            <a:ext cx="54864" cy="219456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298448" y="2542032"/>
            <a:ext cx="9692640" cy="21945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75000"/>
              </a:lnSpc>
            </a:pPr>
            <a:r>
              <a:rPr lang="ja-JP" altLang="en-US" sz="26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「一緒にいると、頑張らなくていい。頑張りたい日も、隣にいると、ちゃんと頑張れる」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8448" y="49194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— 大隅絢加・交際【◯】年目・提案者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9" name="Shap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ふたりのジャーニー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出会ってから今日まで順調に進んできて、次のフェーズにだけ、まだ名前がついていない。</a:t>
            </a:r>
          </a:p>
        </p:txBody>
      </p:sp>
      <p:sp>
        <p:nvSpPr>
          <p:cNvPr id="4" name="Shape 4"/>
          <p:cNvSpPr/>
          <p:nvPr/>
        </p:nvSpPr>
        <p:spPr>
          <a:xfrm flipH="1">
            <a:off x="841248" y="3465576"/>
            <a:ext cx="10515600" cy="2340864"/>
          </a:xfrm>
          <a:prstGeom prst="rtTriangle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841248" y="21854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2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出会い</a:t>
            </a:r>
          </a:p>
        </p:txBody>
      </p:sp>
      <p:sp>
        <p:nvSpPr>
          <p:cNvPr id="6" name="Shape 6"/>
          <p:cNvSpPr/>
          <p:nvPr/>
        </p:nvSpPr>
        <p:spPr>
          <a:xfrm>
            <a:off x="1609344" y="2999232"/>
            <a:ext cx="566928" cy="566928"/>
          </a:xfrm>
          <a:prstGeom prst="ellipse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2322576" y="3232404"/>
            <a:ext cx="1243584" cy="1005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69264" y="3831336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この人、</a:t>
            </a:r>
          </a:p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なんか話しやすい</a:t>
            </a:r>
          </a:p>
        </p:txBody>
      </p:sp>
      <p:sp>
        <p:nvSpPr>
          <p:cNvPr id="9" name="Shape 9"/>
          <p:cNvSpPr/>
          <p:nvPr/>
        </p:nvSpPr>
        <p:spPr>
          <a:xfrm>
            <a:off x="950976" y="5330952"/>
            <a:ext cx="1883664" cy="457200"/>
          </a:xfrm>
          <a:prstGeom prst="rect">
            <a:avLst/>
          </a:prstGeom>
          <a:noFill/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15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第一印象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44368" y="21854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2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交際</a:t>
            </a:r>
          </a:p>
        </p:txBody>
      </p:sp>
      <p:sp>
        <p:nvSpPr>
          <p:cNvPr id="11" name="Shape 11"/>
          <p:cNvSpPr/>
          <p:nvPr/>
        </p:nvSpPr>
        <p:spPr>
          <a:xfrm>
            <a:off x="3712464" y="2999232"/>
            <a:ext cx="566928" cy="566928"/>
          </a:xfrm>
          <a:prstGeom prst="ellipse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4425696" y="3232404"/>
            <a:ext cx="1243584" cy="1005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3072384" y="3831336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休みの日、</a:t>
            </a:r>
          </a:p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何する？</a:t>
            </a:r>
          </a:p>
        </p:txBody>
      </p:sp>
      <p:sp>
        <p:nvSpPr>
          <p:cNvPr id="14" name="Shape 14"/>
          <p:cNvSpPr/>
          <p:nvPr/>
        </p:nvSpPr>
        <p:spPr>
          <a:xfrm>
            <a:off x="3054096" y="5330952"/>
            <a:ext cx="1883664" cy="457200"/>
          </a:xfrm>
          <a:prstGeom prst="rect">
            <a:avLst/>
          </a:prstGeom>
          <a:noFill/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15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習慣になる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47488" y="21854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2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いま</a:t>
            </a:r>
          </a:p>
        </p:txBody>
      </p:sp>
      <p:sp>
        <p:nvSpPr>
          <p:cNvPr id="16" name="Shape 16"/>
          <p:cNvSpPr/>
          <p:nvPr/>
        </p:nvSpPr>
        <p:spPr>
          <a:xfrm>
            <a:off x="5815584" y="2999232"/>
            <a:ext cx="566928" cy="566928"/>
          </a:xfrm>
          <a:prstGeom prst="ellipse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6528816" y="3232404"/>
            <a:ext cx="1243584" cy="1005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5175504" y="3831336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帰ったら</a:t>
            </a:r>
          </a:p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なに食べる？</a:t>
            </a:r>
          </a:p>
        </p:txBody>
      </p:sp>
      <p:sp>
        <p:nvSpPr>
          <p:cNvPr id="19" name="Shape 19"/>
          <p:cNvSpPr/>
          <p:nvPr/>
        </p:nvSpPr>
        <p:spPr>
          <a:xfrm>
            <a:off x="5157216" y="5330952"/>
            <a:ext cx="1883664" cy="457200"/>
          </a:xfrm>
          <a:prstGeom prst="rect">
            <a:avLst/>
          </a:prstGeom>
          <a:noFill/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15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日常になる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50608" y="21854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2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これから</a:t>
            </a:r>
          </a:p>
        </p:txBody>
      </p:sp>
      <p:sp>
        <p:nvSpPr>
          <p:cNvPr id="21" name="Shape 21"/>
          <p:cNvSpPr/>
          <p:nvPr/>
        </p:nvSpPr>
        <p:spPr>
          <a:xfrm>
            <a:off x="7918704" y="2999232"/>
            <a:ext cx="566928" cy="566928"/>
          </a:xfrm>
          <a:prstGeom prst="ellipse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!</a:t>
            </a:r>
          </a:p>
        </p:txBody>
      </p:sp>
      <p:sp>
        <p:nvSpPr>
          <p:cNvPr id="22" name="Shape 22"/>
          <p:cNvSpPr/>
          <p:nvPr/>
        </p:nvSpPr>
        <p:spPr>
          <a:xfrm>
            <a:off x="8631936" y="3232404"/>
            <a:ext cx="1243584" cy="1005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7278624" y="3831336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（ここ、</a:t>
            </a:r>
          </a:p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まだ空欄）</a:t>
            </a:r>
          </a:p>
        </p:txBody>
      </p:sp>
      <p:sp>
        <p:nvSpPr>
          <p:cNvPr id="24" name="Shape 24"/>
          <p:cNvSpPr/>
          <p:nvPr/>
        </p:nvSpPr>
        <p:spPr>
          <a:xfrm>
            <a:off x="7260336" y="5330952"/>
            <a:ext cx="1883664" cy="457200"/>
          </a:xfrm>
          <a:prstGeom prst="rect">
            <a:avLst/>
          </a:prstGeom>
          <a:noFill/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15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ここが本題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53728" y="21854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2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ずっと</a:t>
            </a:r>
          </a:p>
        </p:txBody>
      </p:sp>
      <p:sp>
        <p:nvSpPr>
          <p:cNvPr id="26" name="Shape 26"/>
          <p:cNvSpPr/>
          <p:nvPr/>
        </p:nvSpPr>
        <p:spPr>
          <a:xfrm>
            <a:off x="10021824" y="2999232"/>
            <a:ext cx="566928" cy="566928"/>
          </a:xfrm>
          <a:prstGeom prst="ellipse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9381744" y="3831336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来年も</a:t>
            </a:r>
          </a:p>
          <a:p>
            <a:pPr algn="ctr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同じ話してそう</a:t>
            </a:r>
          </a:p>
        </p:txBody>
      </p:sp>
      <p:sp>
        <p:nvSpPr>
          <p:cNvPr id="28" name="Shape 28"/>
          <p:cNvSpPr/>
          <p:nvPr/>
        </p:nvSpPr>
        <p:spPr>
          <a:xfrm>
            <a:off x="9363456" y="5330952"/>
            <a:ext cx="1883664" cy="457200"/>
          </a:xfrm>
          <a:prstGeom prst="rect">
            <a:avLst/>
          </a:prstGeom>
          <a:noFill/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15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老後まで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24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※提案者の記憶（【出会った年】〜2026年）をもとに作成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2" name="Shap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世の中の事実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2043684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30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「そのうち結婚しよう」の</a:t>
            </a:r>
          </a:p>
          <a:p>
            <a:pPr algn="l">
              <a:lnSpc>
                <a:spcPct val="130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「そのうち」は、</a:t>
            </a:r>
            <a:r>
              <a:rPr lang="ja-JP" altLang="en-US" sz="4400" b="1">
                <a:solidFill>
                  <a:srgbClr val="14141A"/>
                </a:solidFill>
                <a:highlight>
                  <a:srgbClr val="FFD93D"/>
                </a:highlight>
                <a:latin typeface="Yu Gothic"/>
                <a:ea typeface="Yu Gothic"/>
                <a:cs typeface="Yu Gothic"/>
              </a:rPr>
              <a:t>予定ではない</a:t>
            </a: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419252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カレンダーに書かれない限り、そのうちは永遠に来ない。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7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前提の確認</a:t>
            </a:r>
            <a:r>
              <a:rPr lang="ja-JP" altLang="en-US" sz="1200" b="0" spc="6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　「タイミングが来たら」を待つ土俵は、もう十分に踏んだ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118872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72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【◯】年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514600"/>
            <a:ext cx="4892040" cy="353872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付き合ってからの年数。相性も、生活リズムも、お金の感覚も、</a:t>
            </a:r>
            <a:r>
              <a:rPr lang="ja-JP" altLang="en-US" sz="15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検証期間としてはもう十分</a:t>
            </a: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577900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5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出典：私調べ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64808" y="11887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100">
                <a:solidFill>
                  <a:srgbClr val="FF5C77"/>
                </a:solidFill>
                <a:latin typeface="Yu Gothic"/>
                <a:ea typeface="Yu Gothic"/>
                <a:cs typeface="Yu Gothic"/>
              </a:rPr>
              <a:t>このまま延長すると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64808" y="1572768"/>
            <a:ext cx="4892040" cy="44805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来年も「そのうち」、再来年も「そのうち」。</a:t>
            </a:r>
            <a:r>
              <a:rPr lang="ja-JP" altLang="en-US" sz="15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待つ側だけが数えている時間が、静かに増えていく。</a:t>
            </a:r>
          </a:p>
          <a:p>
            <a:pPr algn="l">
              <a:lnSpc>
                <a:spcPct val="180000"/>
              </a:lnSpc>
            </a:pPr>
            <a:endParaRPr lang="ja-JP" sz="1500"/>
          </a:p>
          <a:p>
            <a:pPr algn="l">
              <a:lnSpc>
                <a:spcPct val="180000"/>
              </a:lnSpc>
            </a:pPr>
            <a:r>
              <a:rPr lang="ja-JP" altLang="en-US" sz="1500" b="0">
                <a:solidFill>
                  <a:srgbClr val="14141A"/>
                </a:solidFill>
                <a:highlight>
                  <a:srgbClr val="FFD93D"/>
                </a:highlight>
                <a:latin typeface="Yu Gothic"/>
                <a:ea typeface="Yu Gothic"/>
                <a:cs typeface="Yu Gothic"/>
              </a:rPr>
              <a:t>この提案は、「そのうち」を今日に置き換えます。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解決すべき課題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2043684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30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足りないのは愛情ではなく、</a:t>
            </a:r>
          </a:p>
          <a:p>
            <a:pPr algn="l">
              <a:lnSpc>
                <a:spcPct val="130000"/>
              </a:lnSpc>
            </a:pPr>
            <a:r>
              <a:rPr lang="ja-JP" altLang="en-US" sz="4400" b="1">
                <a:solidFill>
                  <a:srgbClr val="14141A"/>
                </a:solidFill>
                <a:highlight>
                  <a:srgbClr val="FFD93D"/>
                </a:highlight>
                <a:latin typeface="Yu Gothic"/>
                <a:ea typeface="Yu Gothic"/>
                <a:cs typeface="Yu Gothic"/>
              </a:rPr>
              <a:t>日付</a:t>
            </a: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419252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気持ちはもう揃っている。決まっていないのは、いつからか、だけ。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7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02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キーメッセージ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22402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3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帰る場所を、ひとつに。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5648" y="361188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85000"/>
              </a:lnSpc>
            </a:pPr>
            <a:r>
              <a:rPr lang="ja-JP" altLang="en-US"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「一緒にいる」から「一緒に暮らす」へ、そして「家族になる」へ。</a:t>
            </a:r>
          </a:p>
          <a:p>
            <a:pPr algn="ctr">
              <a:lnSpc>
                <a:spcPct val="185000"/>
              </a:lnSpc>
            </a:pPr>
            <a:r>
              <a:rPr lang="ja-JP" altLang="en-US"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合鍵ではなく、</a:t>
            </a:r>
            <a:r>
              <a:rPr lang="ja-JP" altLang="en-US"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同じ表札</a:t>
            </a:r>
            <a:r>
              <a:rPr lang="ja-JP" altLang="en-US"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321911" y="2148840"/>
            <a:ext cx="987552" cy="384048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ご提案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0903" y="21488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7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2026年【◯】月〜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651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婚姻届、共同提出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5648" y="379476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80000"/>
              </a:lnSpc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市役所に、ふたりで一枚の紙を出しに行く。</a:t>
            </a:r>
          </a:p>
          <a:p>
            <a:pPr algn="ctr">
              <a:lnSpc>
                <a:spcPct val="180000"/>
              </a:lnSpc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必要なものは、証人ふたりと、ハンコと、あなたの「はい」。</a:t>
            </a:r>
          </a:p>
        </p:txBody>
      </p:sp>
      <p:sp>
        <p:nvSpPr>
          <p:cNvPr id="6" name="Shape 6"/>
          <p:cNvSpPr/>
          <p:nvPr/>
        </p:nvSpPr>
        <p:spPr>
          <a:xfrm>
            <a:off x="2689707" y="5806440"/>
            <a:ext cx="1600200" cy="310896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8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入籍</a:t>
            </a:r>
          </a:p>
        </p:txBody>
      </p:sp>
      <p:sp>
        <p:nvSpPr>
          <p:cNvPr id="7" name="Shape 7"/>
          <p:cNvSpPr/>
          <p:nvPr/>
        </p:nvSpPr>
        <p:spPr>
          <a:xfrm>
            <a:off x="4427067" y="5806440"/>
            <a:ext cx="1600200" cy="310896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8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両家ごあいさつ</a:t>
            </a:r>
          </a:p>
        </p:txBody>
      </p:sp>
      <p:sp>
        <p:nvSpPr>
          <p:cNvPr id="8" name="Shape 8"/>
          <p:cNvSpPr/>
          <p:nvPr/>
        </p:nvSpPr>
        <p:spPr>
          <a:xfrm>
            <a:off x="6164427" y="5806440"/>
            <a:ext cx="1600200" cy="310896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8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新居</a:t>
            </a:r>
          </a:p>
        </p:txBody>
      </p:sp>
      <p:sp>
        <p:nvSpPr>
          <p:cNvPr id="9" name="Shape 9"/>
          <p:cNvSpPr/>
          <p:nvPr/>
        </p:nvSpPr>
        <p:spPr>
          <a:xfrm>
            <a:off x="7901787" y="5806440"/>
            <a:ext cx="1600200" cy="310896"/>
          </a:xfrm>
          <a:prstGeom prst="rect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8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結婚式（要相談）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41248" y="164592"/>
            <a:ext cx="1499616" cy="347472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200" b="1" spc="12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PLAN 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15184" y="128016"/>
            <a:ext cx="8735263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2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婚姻届、共同提出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804672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提出日は、</a:t>
            </a: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ふたりの記念日</a:t>
            </a: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でも、</a:t>
            </a:r>
            <a:r>
              <a:rPr lang="ja-JP" altLang="en-US" sz="2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なんでもない平日</a:t>
            </a: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でもいい。決めることが目的で、日付は理由です。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2729484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いつ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1408" y="2683764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2026年【◯】月【◯】日（候補）。あなたの都合を最優先で調整します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338785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どこ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21408" y="3342132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【お住まいの市区町村】役所。夜間・休日窓口でも受け取ってもらえます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40462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必要なもの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1408" y="4000500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婚姻届1枚、本人確認書類、証人2名の署名。本籍地以外に出すなら戸籍謄本も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1248" y="470458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わたしから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1408" y="4658868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証人1名（【友人・家族】）の手配と、書類の事前チェックを担当します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5" name="Shap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ふたりの運用ルール（案）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先に決めておくと揉めないことを、4つだけ。</a:t>
            </a:r>
          </a:p>
        </p:txBody>
      </p:sp>
      <p:sp>
        <p:nvSpPr>
          <p:cNvPr id="4" name="Shape 4"/>
          <p:cNvSpPr/>
          <p:nvPr/>
        </p:nvSpPr>
        <p:spPr>
          <a:xfrm>
            <a:off x="841248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1133856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お金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3856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共同の口座を、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ひとつ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856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生活費はそこから。お小遣いには干渉しない。年に1回だけ棚卸し。</a:t>
            </a:r>
          </a:p>
        </p:txBody>
      </p:sp>
      <p:sp>
        <p:nvSpPr>
          <p:cNvPr id="8" name="Shape 8"/>
          <p:cNvSpPr/>
          <p:nvPr/>
        </p:nvSpPr>
        <p:spPr>
          <a:xfrm>
            <a:off x="3534156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3826764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家事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6764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得意なほうが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やる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26764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料理は私、ゴミ出しはあなた。決まらないものは、じゃんけん。</a:t>
            </a:r>
          </a:p>
        </p:txBody>
      </p:sp>
      <p:sp>
        <p:nvSpPr>
          <p:cNvPr id="12" name="Shape 12"/>
          <p:cNvSpPr/>
          <p:nvPr/>
        </p:nvSpPr>
        <p:spPr>
          <a:xfrm>
            <a:off x="6227064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6519672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ケンカ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19672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その日のうちに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話す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9672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寝る前に一言。翌日に持ち越さない。無理な日は「明日話そう」と宣言する。</a:t>
            </a:r>
          </a:p>
        </p:txBody>
      </p:sp>
      <p:sp>
        <p:nvSpPr>
          <p:cNvPr id="16" name="Shape 16"/>
          <p:cNvSpPr/>
          <p:nvPr/>
        </p:nvSpPr>
        <p:spPr>
          <a:xfrm>
            <a:off x="8919972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9212580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時間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2580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ひとりの時間も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守る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12580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週に一度は別行動OK。帰る場所が同じなら、出かける先は違っていい。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22" name="Shape 2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周囲の反応イメージ</a:t>
            </a:r>
          </a:p>
        </p:txBody>
      </p:sp>
      <p:sp>
        <p:nvSpPr>
          <p:cNvPr id="3" name="Shape 3"/>
          <p:cNvSpPr/>
          <p:nvPr/>
        </p:nvSpPr>
        <p:spPr>
          <a:xfrm>
            <a:off x="1207008" y="685800"/>
            <a:ext cx="48463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4" name="Shape 4"/>
          <p:cNvSpPr/>
          <p:nvPr/>
        </p:nvSpPr>
        <p:spPr>
          <a:xfrm>
            <a:off x="1408176" y="868680"/>
            <a:ext cx="457200" cy="457200"/>
          </a:xfrm>
          <a:prstGeom prst="ellipse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993392" y="841248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親友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3392" y="1069848"/>
            <a:ext cx="3877056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@bestfriend ・ 1時間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3392" y="1453896"/>
            <a:ext cx="3831336" cy="56692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5000"/>
              </a:lnSpc>
            </a:pPr>
            <a:r>
              <a:rPr lang="ja-JP" altLang="en-US" sz="11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あの2人ついに！！！提案書で結婚申し込む人、初めて見た笑</a:t>
            </a:r>
          </a:p>
        </p:txBody>
      </p:sp>
      <p:sp>
        <p:nvSpPr>
          <p:cNvPr id="8" name="Shape 8"/>
          <p:cNvSpPr/>
          <p:nvPr/>
        </p:nvSpPr>
        <p:spPr>
          <a:xfrm>
            <a:off x="1993392" y="2093976"/>
            <a:ext cx="3831336" cy="3529584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993392" y="5733288"/>
            <a:ext cx="3831336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💬 12    🔁 38    ♡ 402    📊 1.2万</a:t>
            </a:r>
          </a:p>
        </p:txBody>
      </p:sp>
      <p:sp>
        <p:nvSpPr>
          <p:cNvPr id="10" name="Shape 10"/>
          <p:cNvSpPr/>
          <p:nvPr/>
        </p:nvSpPr>
        <p:spPr>
          <a:xfrm>
            <a:off x="6373368" y="685800"/>
            <a:ext cx="4611319" cy="1679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6574536" y="868680"/>
            <a:ext cx="347472" cy="347472"/>
          </a:xfrm>
          <a:prstGeom prst="ellipse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50024" y="841248"/>
            <a:ext cx="3751783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50024" y="1069848"/>
            <a:ext cx="375178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@mama ・ 1時間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50024" y="1344168"/>
            <a:ext cx="3706063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そういう子だと思ってた。お父さん泣いてる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50024" y="1965960"/>
            <a:ext cx="370606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💬 13    🔁 125    ♡ 348    📊 1435</a:t>
            </a:r>
          </a:p>
        </p:txBody>
      </p:sp>
      <p:sp>
        <p:nvSpPr>
          <p:cNvPr id="16" name="Shape 16"/>
          <p:cNvSpPr/>
          <p:nvPr/>
        </p:nvSpPr>
        <p:spPr>
          <a:xfrm>
            <a:off x="6373368" y="2566416"/>
            <a:ext cx="4611319" cy="1679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6574536" y="2749296"/>
            <a:ext cx="347472" cy="347472"/>
          </a:xfrm>
          <a:prstGeom prst="ellipse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7050024" y="2721864"/>
            <a:ext cx="3751783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同僚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50024" y="2950464"/>
            <a:ext cx="375178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@coworker ・ 1時間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50024" y="3224784"/>
            <a:ext cx="3706063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提案書のクオリティで祝福したい。仕事より気合い入ってない？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50024" y="3846576"/>
            <a:ext cx="370606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💬 13    🔁 125    ♡ 348    📊 1435</a:t>
            </a:r>
          </a:p>
        </p:txBody>
      </p:sp>
      <p:sp>
        <p:nvSpPr>
          <p:cNvPr id="22" name="Shape 22"/>
          <p:cNvSpPr/>
          <p:nvPr/>
        </p:nvSpPr>
        <p:spPr>
          <a:xfrm>
            <a:off x="6373368" y="4447032"/>
            <a:ext cx="4611319" cy="1679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6574536" y="4629912"/>
            <a:ext cx="347472" cy="347472"/>
          </a:xfrm>
          <a:prstGeom prst="ellipse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7050024" y="4602480"/>
            <a:ext cx="3751783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あなたの友人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50024" y="4831080"/>
            <a:ext cx="375178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@his_friend ・ 1時間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50024" y="5105400"/>
            <a:ext cx="3706063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5000"/>
              </a:lnSpc>
            </a:pPr>
            <a:r>
              <a:rPr lang="ja-JP" altLang="en-US" sz="95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で、承認した？返事は1営業日以内でお願いします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50024" y="5727192"/>
            <a:ext cx="3706063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💬 13    🔁 125    ♡ 348    📊 1435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30" name="Shap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KPIの考え方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追う数字は3つ。売上ではなく、機嫌のいい日を数えます。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「おやすみ」を言った日数（年間）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365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目標：365 ／ 365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88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ふたりだけの旅行（年間）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88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回以上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88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近場でも可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64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翌日に持ち越したケンカ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64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0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564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当日中に仲直り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48508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計測は自己申告制。監査は入りません。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16" name="Shap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お見積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提案者からのご提供内容と、お願いしたいご負担です。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1741932"/>
            <a:ext cx="2739874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費目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09138" y="1741932"/>
            <a:ext cx="5607765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44919" y="1741932"/>
            <a:ext cx="1783911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金額</a:t>
            </a:r>
          </a:p>
        </p:txBody>
      </p:sp>
      <p:sp>
        <p:nvSpPr>
          <p:cNvPr id="7" name="Shape 7"/>
          <p:cNvSpPr/>
          <p:nvPr/>
        </p:nvSpPr>
        <p:spPr>
          <a:xfrm>
            <a:off x="841248" y="2479040"/>
            <a:ext cx="10515600" cy="254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2491740"/>
            <a:ext cx="2739874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毎朝のおはよう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09138" y="2491740"/>
            <a:ext cx="5607765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毎日1回。寝起きの機嫌は保証しません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4919" y="2491740"/>
            <a:ext cx="1783911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0円</a:t>
            </a:r>
          </a:p>
        </p:txBody>
      </p:sp>
      <p:sp>
        <p:nvSpPr>
          <p:cNvPr id="11" name="Shape 11"/>
          <p:cNvSpPr/>
          <p:nvPr/>
        </p:nvSpPr>
        <p:spPr>
          <a:xfrm>
            <a:off x="841248" y="3236468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41248" y="3241548"/>
            <a:ext cx="2739874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ごはん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9138" y="3241548"/>
            <a:ext cx="5607765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週【◯】回。リクエスト受付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4919" y="3241548"/>
            <a:ext cx="1783911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材料費のみ</a:t>
            </a:r>
          </a:p>
        </p:txBody>
      </p:sp>
      <p:sp>
        <p:nvSpPr>
          <p:cNvPr id="15" name="Shape 15"/>
          <p:cNvSpPr/>
          <p:nvPr/>
        </p:nvSpPr>
        <p:spPr>
          <a:xfrm>
            <a:off x="841248" y="3986276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41248" y="3991356"/>
            <a:ext cx="2739874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味方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9138" y="3991356"/>
            <a:ext cx="5607765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何があっても。異論は聞きますが、敵にはなりません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44919" y="3991356"/>
            <a:ext cx="1783911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プライスレス</a:t>
            </a:r>
          </a:p>
        </p:txBody>
      </p:sp>
      <p:sp>
        <p:nvSpPr>
          <p:cNvPr id="19" name="Shape 19"/>
          <p:cNvSpPr/>
          <p:nvPr/>
        </p:nvSpPr>
        <p:spPr>
          <a:xfrm>
            <a:off x="841248" y="4736084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841248" y="4741164"/>
            <a:ext cx="10515600" cy="74980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32688" y="4741164"/>
            <a:ext cx="2648434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ご負担いただくもの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00578" y="4741164"/>
            <a:ext cx="5516325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返事、一言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36359" y="4741164"/>
            <a:ext cx="1692471" cy="74980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「はい」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248" y="56738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※税別。有効期限はありませんが、早めのご返答をおすすめします。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スケジュール（案）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最短で、年内の入籍を想定しています。もちろん、相談のうえで。</a:t>
            </a:r>
          </a:p>
        </p:txBody>
      </p:sp>
      <p:sp>
        <p:nvSpPr>
          <p:cNvPr id="4" name="Shape 4"/>
          <p:cNvSpPr/>
          <p:nvPr/>
        </p:nvSpPr>
        <p:spPr>
          <a:xfrm>
            <a:off x="960120" y="1728216"/>
            <a:ext cx="2739312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5" name="Shape 5"/>
          <p:cNvSpPr/>
          <p:nvPr/>
        </p:nvSpPr>
        <p:spPr>
          <a:xfrm>
            <a:off x="960120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1W</a:t>
            </a:r>
          </a:p>
        </p:txBody>
      </p:sp>
      <p:sp>
        <p:nvSpPr>
          <p:cNvPr id="6" name="Shape 6"/>
          <p:cNvSpPr/>
          <p:nvPr/>
        </p:nvSpPr>
        <p:spPr>
          <a:xfrm>
            <a:off x="1644948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2W</a:t>
            </a:r>
          </a:p>
        </p:txBody>
      </p:sp>
      <p:sp>
        <p:nvSpPr>
          <p:cNvPr id="7" name="Shape 7"/>
          <p:cNvSpPr/>
          <p:nvPr/>
        </p:nvSpPr>
        <p:spPr>
          <a:xfrm>
            <a:off x="2329776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3W</a:t>
            </a:r>
          </a:p>
        </p:txBody>
      </p:sp>
      <p:sp>
        <p:nvSpPr>
          <p:cNvPr id="8" name="Shape 8"/>
          <p:cNvSpPr/>
          <p:nvPr/>
        </p:nvSpPr>
        <p:spPr>
          <a:xfrm>
            <a:off x="3014604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4W</a:t>
            </a:r>
          </a:p>
        </p:txBody>
      </p:sp>
      <p:sp>
        <p:nvSpPr>
          <p:cNvPr id="9" name="Shape 9"/>
          <p:cNvSpPr/>
          <p:nvPr/>
        </p:nvSpPr>
        <p:spPr>
          <a:xfrm>
            <a:off x="3699432" y="1728216"/>
            <a:ext cx="2739312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0" name="Shape 10"/>
          <p:cNvSpPr/>
          <p:nvPr/>
        </p:nvSpPr>
        <p:spPr>
          <a:xfrm>
            <a:off x="3699432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1W</a:t>
            </a:r>
          </a:p>
        </p:txBody>
      </p:sp>
      <p:sp>
        <p:nvSpPr>
          <p:cNvPr id="11" name="Shape 11"/>
          <p:cNvSpPr/>
          <p:nvPr/>
        </p:nvSpPr>
        <p:spPr>
          <a:xfrm>
            <a:off x="4384260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2W</a:t>
            </a:r>
          </a:p>
        </p:txBody>
      </p:sp>
      <p:sp>
        <p:nvSpPr>
          <p:cNvPr id="12" name="Shape 12"/>
          <p:cNvSpPr/>
          <p:nvPr/>
        </p:nvSpPr>
        <p:spPr>
          <a:xfrm>
            <a:off x="5069088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3W</a:t>
            </a:r>
          </a:p>
        </p:txBody>
      </p:sp>
      <p:sp>
        <p:nvSpPr>
          <p:cNvPr id="13" name="Shape 13"/>
          <p:cNvSpPr/>
          <p:nvPr/>
        </p:nvSpPr>
        <p:spPr>
          <a:xfrm>
            <a:off x="5753916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4W</a:t>
            </a:r>
          </a:p>
        </p:txBody>
      </p:sp>
      <p:sp>
        <p:nvSpPr>
          <p:cNvPr id="14" name="Shape 14"/>
          <p:cNvSpPr/>
          <p:nvPr/>
        </p:nvSpPr>
        <p:spPr>
          <a:xfrm>
            <a:off x="6438744" y="1728216"/>
            <a:ext cx="2739312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5" name="Shape 15"/>
          <p:cNvSpPr/>
          <p:nvPr/>
        </p:nvSpPr>
        <p:spPr>
          <a:xfrm>
            <a:off x="6438744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1W</a:t>
            </a:r>
          </a:p>
        </p:txBody>
      </p:sp>
      <p:sp>
        <p:nvSpPr>
          <p:cNvPr id="16" name="Shape 16"/>
          <p:cNvSpPr/>
          <p:nvPr/>
        </p:nvSpPr>
        <p:spPr>
          <a:xfrm>
            <a:off x="7123572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2W</a:t>
            </a:r>
          </a:p>
        </p:txBody>
      </p:sp>
      <p:sp>
        <p:nvSpPr>
          <p:cNvPr id="17" name="Shape 17"/>
          <p:cNvSpPr/>
          <p:nvPr/>
        </p:nvSpPr>
        <p:spPr>
          <a:xfrm>
            <a:off x="7808400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3W</a:t>
            </a:r>
          </a:p>
        </p:txBody>
      </p:sp>
      <p:sp>
        <p:nvSpPr>
          <p:cNvPr id="18" name="Shape 18"/>
          <p:cNvSpPr/>
          <p:nvPr/>
        </p:nvSpPr>
        <p:spPr>
          <a:xfrm>
            <a:off x="8493228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4W</a:t>
            </a:r>
          </a:p>
        </p:txBody>
      </p:sp>
      <p:sp>
        <p:nvSpPr>
          <p:cNvPr id="19" name="Shape 19"/>
          <p:cNvSpPr/>
          <p:nvPr/>
        </p:nvSpPr>
        <p:spPr>
          <a:xfrm>
            <a:off x="9178056" y="1728216"/>
            <a:ext cx="2739312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sp>
        <p:nvSpPr>
          <p:cNvPr id="20" name="Shape 20"/>
          <p:cNvSpPr/>
          <p:nvPr/>
        </p:nvSpPr>
        <p:spPr>
          <a:xfrm>
            <a:off x="9178056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1W</a:t>
            </a:r>
          </a:p>
        </p:txBody>
      </p:sp>
      <p:sp>
        <p:nvSpPr>
          <p:cNvPr id="21" name="Shape 21"/>
          <p:cNvSpPr/>
          <p:nvPr/>
        </p:nvSpPr>
        <p:spPr>
          <a:xfrm>
            <a:off x="9862884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2W</a:t>
            </a:r>
          </a:p>
        </p:txBody>
      </p:sp>
      <p:sp>
        <p:nvSpPr>
          <p:cNvPr id="22" name="Shape 22"/>
          <p:cNvSpPr/>
          <p:nvPr/>
        </p:nvSpPr>
        <p:spPr>
          <a:xfrm>
            <a:off x="10547712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3W</a:t>
            </a:r>
          </a:p>
        </p:txBody>
      </p:sp>
      <p:sp>
        <p:nvSpPr>
          <p:cNvPr id="23" name="Shape 23"/>
          <p:cNvSpPr/>
          <p:nvPr/>
        </p:nvSpPr>
        <p:spPr>
          <a:xfrm>
            <a:off x="11232540" y="2039112"/>
            <a:ext cx="684828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4W</a:t>
            </a:r>
          </a:p>
        </p:txBody>
      </p:sp>
      <p:sp>
        <p:nvSpPr>
          <p:cNvPr id="24" name="Shape 24"/>
          <p:cNvSpPr/>
          <p:nvPr/>
        </p:nvSpPr>
        <p:spPr>
          <a:xfrm>
            <a:off x="960120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1644948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2329776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3014604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8" name="Shape 28"/>
          <p:cNvSpPr/>
          <p:nvPr/>
        </p:nvSpPr>
        <p:spPr>
          <a:xfrm>
            <a:off x="3699432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9" name="Shape 29"/>
          <p:cNvSpPr/>
          <p:nvPr/>
        </p:nvSpPr>
        <p:spPr>
          <a:xfrm>
            <a:off x="4384260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0" name="Shape 30"/>
          <p:cNvSpPr/>
          <p:nvPr/>
        </p:nvSpPr>
        <p:spPr>
          <a:xfrm>
            <a:off x="5069088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1" name="Shape 31"/>
          <p:cNvSpPr/>
          <p:nvPr/>
        </p:nvSpPr>
        <p:spPr>
          <a:xfrm>
            <a:off x="5753916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2" name="Shape 32"/>
          <p:cNvSpPr/>
          <p:nvPr/>
        </p:nvSpPr>
        <p:spPr>
          <a:xfrm>
            <a:off x="6438744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3" name="Shape 33"/>
          <p:cNvSpPr/>
          <p:nvPr/>
        </p:nvSpPr>
        <p:spPr>
          <a:xfrm>
            <a:off x="7123572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4" name="Shape 34"/>
          <p:cNvSpPr/>
          <p:nvPr/>
        </p:nvSpPr>
        <p:spPr>
          <a:xfrm>
            <a:off x="7808400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5" name="Shape 35"/>
          <p:cNvSpPr/>
          <p:nvPr/>
        </p:nvSpPr>
        <p:spPr>
          <a:xfrm>
            <a:off x="8493228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6" name="Shape 36"/>
          <p:cNvSpPr/>
          <p:nvPr/>
        </p:nvSpPr>
        <p:spPr>
          <a:xfrm>
            <a:off x="9178056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7" name="Shape 37"/>
          <p:cNvSpPr/>
          <p:nvPr/>
        </p:nvSpPr>
        <p:spPr>
          <a:xfrm>
            <a:off x="9862884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8" name="Shape 38"/>
          <p:cNvSpPr/>
          <p:nvPr/>
        </p:nvSpPr>
        <p:spPr>
          <a:xfrm>
            <a:off x="10547712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9" name="Shape 39"/>
          <p:cNvSpPr/>
          <p:nvPr/>
        </p:nvSpPr>
        <p:spPr>
          <a:xfrm>
            <a:off x="11232540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40" name="Shape 40"/>
          <p:cNvSpPr/>
          <p:nvPr/>
        </p:nvSpPr>
        <p:spPr>
          <a:xfrm>
            <a:off x="11917368" y="2350008"/>
            <a:ext cx="9525" cy="3410712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41" name="Shape 41"/>
          <p:cNvSpPr/>
          <p:nvPr/>
        </p:nvSpPr>
        <p:spPr>
          <a:xfrm>
            <a:off x="274320" y="3026664"/>
            <a:ext cx="640080" cy="566928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全体</a:t>
            </a:r>
          </a:p>
        </p:txBody>
      </p:sp>
      <p:sp>
        <p:nvSpPr>
          <p:cNvPr id="42" name="Shape 42"/>
          <p:cNvSpPr/>
          <p:nvPr/>
        </p:nvSpPr>
        <p:spPr>
          <a:xfrm>
            <a:off x="987552" y="3118104"/>
            <a:ext cx="629964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ご提案</a:t>
            </a:r>
          </a:p>
        </p:txBody>
      </p:sp>
      <p:sp>
        <p:nvSpPr>
          <p:cNvPr id="43" name="Shape 43"/>
          <p:cNvSpPr/>
          <p:nvPr/>
        </p:nvSpPr>
        <p:spPr>
          <a:xfrm>
            <a:off x="1672380" y="3118104"/>
            <a:ext cx="1314792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ご回答・相談</a:t>
            </a:r>
          </a:p>
        </p:txBody>
      </p:sp>
      <p:sp>
        <p:nvSpPr>
          <p:cNvPr id="44" name="Shape 44"/>
          <p:cNvSpPr/>
          <p:nvPr/>
        </p:nvSpPr>
        <p:spPr>
          <a:xfrm>
            <a:off x="274320" y="3593592"/>
            <a:ext cx="640080" cy="566928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両家</a:t>
            </a:r>
          </a:p>
        </p:txBody>
      </p:sp>
      <p:sp>
        <p:nvSpPr>
          <p:cNvPr id="45" name="Shape 45"/>
          <p:cNvSpPr/>
          <p:nvPr/>
        </p:nvSpPr>
        <p:spPr>
          <a:xfrm>
            <a:off x="3726864" y="3685032"/>
            <a:ext cx="1999620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9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それぞれの実家へ</a:t>
            </a:r>
          </a:p>
        </p:txBody>
      </p:sp>
      <p:sp>
        <p:nvSpPr>
          <p:cNvPr id="46" name="Shape 46"/>
          <p:cNvSpPr/>
          <p:nvPr/>
        </p:nvSpPr>
        <p:spPr>
          <a:xfrm>
            <a:off x="6466176" y="3685032"/>
            <a:ext cx="1314792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両家顔合わせ</a:t>
            </a:r>
          </a:p>
        </p:txBody>
      </p:sp>
      <p:sp>
        <p:nvSpPr>
          <p:cNvPr id="47" name="Shape 47"/>
          <p:cNvSpPr/>
          <p:nvPr/>
        </p:nvSpPr>
        <p:spPr>
          <a:xfrm>
            <a:off x="274320" y="4160520"/>
            <a:ext cx="640080" cy="566928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手続き</a:t>
            </a:r>
          </a:p>
        </p:txBody>
      </p:sp>
      <p:sp>
        <p:nvSpPr>
          <p:cNvPr id="48" name="Shape 48"/>
          <p:cNvSpPr/>
          <p:nvPr/>
        </p:nvSpPr>
        <p:spPr>
          <a:xfrm>
            <a:off x="7835832" y="4251960"/>
            <a:ext cx="1999620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婚姻届の準備</a:t>
            </a:r>
          </a:p>
        </p:txBody>
      </p:sp>
      <p:sp>
        <p:nvSpPr>
          <p:cNvPr id="49" name="Shape 49"/>
          <p:cNvSpPr/>
          <p:nvPr/>
        </p:nvSpPr>
        <p:spPr>
          <a:xfrm>
            <a:off x="9890316" y="4251960"/>
            <a:ext cx="629964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提出</a:t>
            </a:r>
          </a:p>
        </p:txBody>
      </p:sp>
      <p:sp>
        <p:nvSpPr>
          <p:cNvPr id="50" name="Shape 50"/>
          <p:cNvSpPr/>
          <p:nvPr/>
        </p:nvSpPr>
        <p:spPr>
          <a:xfrm>
            <a:off x="274320" y="4727448"/>
            <a:ext cx="640080" cy="566928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暮らし</a:t>
            </a:r>
          </a:p>
        </p:txBody>
      </p:sp>
      <p:sp>
        <p:nvSpPr>
          <p:cNvPr id="51" name="Shape 51"/>
          <p:cNvSpPr/>
          <p:nvPr/>
        </p:nvSpPr>
        <p:spPr>
          <a:xfrm>
            <a:off x="5096520" y="4818888"/>
            <a:ext cx="4054104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新居さがし</a:t>
            </a:r>
          </a:p>
        </p:txBody>
      </p:sp>
      <p:sp>
        <p:nvSpPr>
          <p:cNvPr id="52" name="Shape 52"/>
          <p:cNvSpPr/>
          <p:nvPr/>
        </p:nvSpPr>
        <p:spPr>
          <a:xfrm>
            <a:off x="9205488" y="4818888"/>
            <a:ext cx="2684448" cy="38404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引っ越し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3934" y="2386584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33854" y="26791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ご提案（今日）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976698" y="2386584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36618" y="26791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入籍（候補）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7432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*あくまで案です。日程はすべて相談で決めます。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60" name="Shape 6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体制図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ふたり：企画・実行・振り返りまで一貫して担当</a:t>
            </a:r>
          </a:p>
        </p:txBody>
      </p:sp>
      <p:sp>
        <p:nvSpPr>
          <p:cNvPr id="4" name="Shape 4"/>
          <p:cNvSpPr/>
          <p:nvPr/>
        </p:nvSpPr>
        <p:spPr>
          <a:xfrm>
            <a:off x="3032607" y="1618488"/>
            <a:ext cx="29260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3032607" y="18013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大隅絢加</a:t>
            </a:r>
          </a:p>
        </p:txBody>
      </p:sp>
      <p:sp>
        <p:nvSpPr>
          <p:cNvPr id="6" name="Shape 6"/>
          <p:cNvSpPr/>
          <p:nvPr/>
        </p:nvSpPr>
        <p:spPr>
          <a:xfrm>
            <a:off x="3559301" y="2221992"/>
            <a:ext cx="1872691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3032607" y="23134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3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提案者</a:t>
            </a:r>
          </a:p>
          <a:p>
            <a:pPr algn="ctr">
              <a:lnSpc>
                <a:spcPct val="13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ごはん・段取り担当</a:t>
            </a:r>
          </a:p>
        </p:txBody>
      </p:sp>
      <p:sp>
        <p:nvSpPr>
          <p:cNvPr id="8" name="Shape 8"/>
          <p:cNvSpPr/>
          <p:nvPr/>
        </p:nvSpPr>
        <p:spPr>
          <a:xfrm>
            <a:off x="6233007" y="1618488"/>
            <a:ext cx="29260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233007" y="18013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【彼の名前】</a:t>
            </a:r>
          </a:p>
        </p:txBody>
      </p:sp>
      <p:sp>
        <p:nvSpPr>
          <p:cNvPr id="10" name="Shape 10"/>
          <p:cNvSpPr/>
          <p:nvPr/>
        </p:nvSpPr>
        <p:spPr>
          <a:xfrm>
            <a:off x="6759701" y="2221992"/>
            <a:ext cx="1872691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233007" y="23134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3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決裁者</a:t>
            </a:r>
          </a:p>
          <a:p>
            <a:pPr algn="ctr">
              <a:lnSpc>
                <a:spcPct val="13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【得意なこと】担当</a:t>
            </a:r>
          </a:p>
        </p:txBody>
      </p:sp>
      <p:sp>
        <p:nvSpPr>
          <p:cNvPr id="12" name="Shape 12"/>
          <p:cNvSpPr/>
          <p:nvPr/>
        </p:nvSpPr>
        <p:spPr>
          <a:xfrm>
            <a:off x="2182215" y="3017520"/>
            <a:ext cx="7827264" cy="1179576"/>
          </a:xfrm>
          <a:prstGeom prst="rect">
            <a:avLst/>
          </a:prstGeom>
          <a:noFill/>
          <a:ln w="12700">
            <a:solidFill>
              <a:srgbClr val="B5025D"/>
            </a:solidFill>
            <a:prstDash val="dash"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2438247" y="3218688"/>
            <a:ext cx="2255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双方の両親</a:t>
            </a:r>
          </a:p>
        </p:txBody>
      </p:sp>
      <p:sp>
        <p:nvSpPr>
          <p:cNvPr id="14" name="Shape 14"/>
          <p:cNvSpPr/>
          <p:nvPr/>
        </p:nvSpPr>
        <p:spPr>
          <a:xfrm>
            <a:off x="4968087" y="3218688"/>
            <a:ext cx="2255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友人一同</a:t>
            </a:r>
          </a:p>
        </p:txBody>
      </p:sp>
      <p:sp>
        <p:nvSpPr>
          <p:cNvPr id="15" name="Shape 15"/>
          <p:cNvSpPr/>
          <p:nvPr/>
        </p:nvSpPr>
        <p:spPr>
          <a:xfrm>
            <a:off x="7497927" y="3218688"/>
            <a:ext cx="22555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025D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2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（将来）子ども・猫など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248" y="437997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0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※必要に応じて、周囲の皆さまにご協力いただきます。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結婚に関するご提案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19" name="Shap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27432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lnSpc>
                <a:spcPct val="150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帰る場所を、ひとつに。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4297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6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ご回答は、お気軽に。できれば「はい」で。</a:t>
            </a:r>
          </a:p>
        </p:txBody>
      </p:sp>
      <p:sp>
        <p:nvSpPr>
          <p:cNvPr id="4" name="Shap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Office">
      <a:dk1>
        <a:srgbClr val="000000"/>
      </a:dk1>
      <a:lt1>
        <a:srgbClr val="FFFFFF"/>
      </a:lt1>
      <a:dk2>
        <a:srgbClr val="14141A"/>
      </a:dk2>
      <a:lt2>
        <a:srgbClr val="E7E7EE"/>
      </a:lt2>
      <a:accent1>
        <a:srgbClr val="B5025D"/>
      </a:accent1>
      <a:accent2>
        <a:srgbClr val="6B6B76"/>
      </a:accent2>
      <a:accent3>
        <a:srgbClr val="FFD93D"/>
      </a:accent3>
      <a:accent4>
        <a:srgbClr val="FF5C77"/>
      </a:accent4>
      <a:accent5>
        <a:srgbClr val="A3A3AE"/>
      </a:accent5>
      <a:accent6>
        <a:srgbClr val="FBE9F2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  <a:cs typeface="Yu Gothic"/>
        <a:font script="Jpan" typeface="Yu Gothic"/>
      </a:majorFont>
      <a:minorFont>
        <a:latin typeface="Yu Gothic"/>
        <a:ea typeface="Yu Gothic"/>
        <a:cs typeface="Yu Gothic"/>
        <a:font script="Jpan" typeface="Yu Gothi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Office">
      <a:dk1>
        <a:srgbClr val="000000"/>
      </a:dk1>
      <a:lt1>
        <a:srgbClr val="FFFFFF"/>
      </a:lt1>
      <a:dk2>
        <a:srgbClr val="14141A"/>
      </a:dk2>
      <a:lt2>
        <a:srgbClr val="E7E7EE"/>
      </a:lt2>
      <a:accent1>
        <a:srgbClr val="B5025D"/>
      </a:accent1>
      <a:accent2>
        <a:srgbClr val="6B6B76"/>
      </a:accent2>
      <a:accent3>
        <a:srgbClr val="FFD93D"/>
      </a:accent3>
      <a:accent4>
        <a:srgbClr val="FF5C77"/>
      </a:accent4>
      <a:accent5>
        <a:srgbClr val="A3A3AE"/>
      </a:accent5>
      <a:accent6>
        <a:srgbClr val="FBE9F2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  <a:cs typeface="Yu Gothic"/>
        <a:font script="Jpan" typeface="Yu Gothic"/>
      </a:majorFont>
      <a:minorFont>
        <a:latin typeface="Yu Gothic"/>
        <a:ea typeface="Yu Gothic"/>
        <a:cs typeface="Yu Gothic"/>
        <a:font script="Jpan" typeface="Yu Gothi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結婚に関するご提案</dc:title>
  <dc:creator>大隅絢加</dc:creator>
</cp:coreProperties>
</file>